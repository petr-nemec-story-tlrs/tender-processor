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ed Hat Display Black"/>
      <p:bold r:id="rId19"/>
      <p:boldItalic r:id="rId20"/>
    </p:embeddedFont>
    <p:embeddedFont>
      <p:font typeface="Young Serif"/>
      <p:regular r:id="rId21"/>
    </p:embeddedFont>
    <p:embeddedFont>
      <p:font typeface="Red Hat Display Medium"/>
      <p:regular r:id="rId22"/>
      <p:bold r:id="rId23"/>
      <p:italic r:id="rId24"/>
      <p:boldItalic r:id="rId25"/>
    </p:embeddedFont>
    <p:embeddedFont>
      <p:font typeface="Manrope"/>
      <p:regular r:id="rId26"/>
      <p:bold r:id="rId27"/>
    </p:embeddedFont>
    <p:embeddedFont>
      <p:font typeface="Red Hat Display"/>
      <p:regular r:id="rId28"/>
      <p:bold r:id="rId29"/>
      <p:italic r:id="rId30"/>
      <p:boldItalic r:id="rId31"/>
    </p:embeddedFont>
    <p:embeddedFont>
      <p:font typeface="Red Hat Display ExtraBold"/>
      <p:bold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134">
          <p15:clr>
            <a:srgbClr val="747775"/>
          </p15:clr>
        </p15:guide>
        <p15:guide id="2" orient="horz" pos="3118">
          <p15:clr>
            <a:srgbClr val="747775"/>
          </p15:clr>
        </p15:guide>
      </p15:sldGuideLst>
    </p:ext>
    <p:ext uri="GoogleSlidesCustomDataVersion2">
      <go:slidesCustomData xmlns:go="http://customooxmlschemas.google.com/" r:id="rId34" roundtripDataSignature="AMtx7mgZQaerddtiIoDWQli4J/QT//sI1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134" orient="horz"/>
        <p:guide pos="3118"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edHatDisplayBlack-boldItalic.fntdata"/><Relationship Id="rId22" Type="http://schemas.openxmlformats.org/officeDocument/2006/relationships/font" Target="fonts/RedHatDisplayMedium-regular.fntdata"/><Relationship Id="rId21" Type="http://schemas.openxmlformats.org/officeDocument/2006/relationships/font" Target="fonts/YoungSerif-regular.fntdata"/><Relationship Id="rId24" Type="http://schemas.openxmlformats.org/officeDocument/2006/relationships/font" Target="fonts/RedHatDisplayMedium-italic.fntdata"/><Relationship Id="rId23" Type="http://schemas.openxmlformats.org/officeDocument/2006/relationships/font" Target="fonts/RedHatDisplayMedium-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anrope-regular.fntdata"/><Relationship Id="rId25" Type="http://schemas.openxmlformats.org/officeDocument/2006/relationships/font" Target="fonts/RedHatDisplayMedium-boldItalic.fntdata"/><Relationship Id="rId28" Type="http://schemas.openxmlformats.org/officeDocument/2006/relationships/font" Target="fonts/RedHatDisplay-regular.fntdata"/><Relationship Id="rId27" Type="http://schemas.openxmlformats.org/officeDocument/2006/relationships/font" Target="fonts/Manrope-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edHatDisplay-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edHatDisplay-boldItalic.fntdata"/><Relationship Id="rId30" Type="http://schemas.openxmlformats.org/officeDocument/2006/relationships/font" Target="fonts/RedHatDisplay-italic.fntdata"/><Relationship Id="rId11" Type="http://schemas.openxmlformats.org/officeDocument/2006/relationships/slide" Target="slides/slide5.xml"/><Relationship Id="rId33" Type="http://schemas.openxmlformats.org/officeDocument/2006/relationships/font" Target="fonts/RedHatDisplayExtraBold-boldItalic.fntdata"/><Relationship Id="rId10" Type="http://schemas.openxmlformats.org/officeDocument/2006/relationships/slide" Target="slides/slide4.xml"/><Relationship Id="rId32" Type="http://schemas.openxmlformats.org/officeDocument/2006/relationships/font" Target="fonts/RedHatDisplayExtraBold-bold.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edHatDisplayBlack-bold.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f602efc4d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cf602efc4d_0_1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cs"/>
              <a:t>není final - třeba upravit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f602efc4d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cf602efc4d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5" name="Google Shape;19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60000"/>
              </a:lnSpc>
              <a:spcBef>
                <a:spcPts val="3200"/>
              </a:spcBef>
              <a:spcAft>
                <a:spcPts val="0"/>
              </a:spcAft>
              <a:buClr>
                <a:schemeClr val="dk1"/>
              </a:buClr>
              <a:buSzPts val="900"/>
              <a:buFont typeface="Manrope"/>
              <a:buNone/>
            </a:pPr>
            <a:r>
              <a:rPr lang="cs" sz="900">
                <a:solidFill>
                  <a:schemeClr val="dk1"/>
                </a:solidFill>
                <a:highlight>
                  <a:srgbClr val="FFFFFF"/>
                </a:highlight>
                <a:latin typeface="Manrope"/>
                <a:ea typeface="Manrope"/>
                <a:cs typeface="Manrope"/>
                <a:sym typeface="Manrope"/>
              </a:rPr>
              <a:t>Retainer je něco jako předplatné. Je to forma spolupráce, při které nám neplatíte předem stanovenou částku za přesně definovaný projekt. Místo toho naši práci (zastropovanou počtem hodin) platíte měsíčně.</a:t>
            </a:r>
            <a:endParaRPr sz="900">
              <a:solidFill>
                <a:schemeClr val="dk1"/>
              </a:solidFill>
              <a:highlight>
                <a:srgbClr val="FFFFFF"/>
              </a:highlight>
              <a:latin typeface="Manrope"/>
              <a:ea typeface="Manrope"/>
              <a:cs typeface="Manrope"/>
              <a:sym typeface="Manrope"/>
            </a:endParaRPr>
          </a:p>
          <a:p>
            <a:pPr indent="0" lvl="0" marL="0" rtl="0" algn="l">
              <a:lnSpc>
                <a:spcPct val="100000"/>
              </a:lnSpc>
              <a:spcBef>
                <a:spcPts val="420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1">
  <p:cSld name="TITLE_1">
    <p:bg>
      <p:bgPr>
        <a:blipFill>
          <a:blip r:embed="rId2">
            <a:alphaModFix/>
          </a:blip>
          <a:stretch>
            <a:fillRect/>
          </a:stretch>
        </a:blip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4">
  <p:cSld name="CUSTOM_2">
    <p:spTree>
      <p:nvGrpSpPr>
        <p:cNvPr id="10" name="Shape 10"/>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TITLE_AND_BODY_1">
    <p:spTree>
      <p:nvGrpSpPr>
        <p:cNvPr id="11" name="Shape 11"/>
        <p:cNvGrpSpPr/>
        <p:nvPr/>
      </p:nvGrpSpPr>
      <p:grpSpPr>
        <a:xfrm>
          <a:off x="0" y="0"/>
          <a:ext cx="0" cy="0"/>
          <a:chOff x="0" y="0"/>
          <a:chExt cx="0" cy="0"/>
        </a:xfrm>
      </p:grpSpPr>
      <p:sp>
        <p:nvSpPr>
          <p:cNvPr id="12" name="Google Shape;12;p18"/>
          <p:cNvSpPr txBox="1"/>
          <p:nvPr>
            <p:ph idx="12" type="sldNum"/>
          </p:nvPr>
        </p:nvSpPr>
        <p:spPr>
          <a:xfrm>
            <a:off x="4419600" y="4627562"/>
            <a:ext cx="2133600" cy="276900"/>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sz="1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1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2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2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2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2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2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2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2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2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2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2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1">
  <p:cSld name="TITLE_1">
    <p:bg>
      <p:bgPr>
        <a:blipFill>
          <a:blip r:embed="rId2">
            <a:alphaModFix/>
          </a:blip>
          <a:stretch>
            <a:fillRect/>
          </a:stretch>
        </a:blipFill>
      </p:bgPr>
    </p:bg>
    <p:spTree>
      <p:nvGrpSpPr>
        <p:cNvPr id="58" name="Shape 58"/>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g3cf602efc4d_0_6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1" name="Google Shape;61;g3cf602efc4d_0_6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2" name="Google Shape;62;g3cf602efc4d_0_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g3cf602efc4d_0_6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5" name="Google Shape;65;g3cf602efc4d_0_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g3cf602efc4d_0_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8" name="Google Shape;68;g3cf602efc4d_0_7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9" name="Google Shape;69;g3cf602efc4d_0_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g3cf602efc4d_0_7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2" name="Google Shape;72;g3cf602efc4d_0_7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3" name="Google Shape;73;g3cf602efc4d_0_7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4" name="Google Shape;74;g3cf602efc4d_0_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g3cf602efc4d_0_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7" name="Google Shape;77;g3cf602efc4d_0_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g3cf602efc4d_0_8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0" name="Google Shape;80;g3cf602efc4d_0_8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1" name="Google Shape;81;g3cf602efc4d_0_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g3cf602efc4d_0_8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4" name="Google Shape;84;g3cf602efc4d_0_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g3cf602efc4d_0_9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g3cf602efc4d_0_9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8" name="Google Shape;88;g3cf602efc4d_0_9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9" name="Google Shape;89;g3cf602efc4d_0_9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0" name="Google Shape;90;g3cf602efc4d_0_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g3cf602efc4d_0_9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3" name="Google Shape;93;g3cf602efc4d_0_9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g3cf602efc4d_0_10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6" name="Google Shape;96;g3cf602efc4d_0_10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7" name="Google Shape;97;g3cf602efc4d_0_1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g3cf602efc4d_0_10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4">
  <p:cSld name="CUSTOM_2">
    <p:spTree>
      <p:nvGrpSpPr>
        <p:cNvPr id="100" name="Shape 100"/>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TITLE_AND_BODY_1">
    <p:spTree>
      <p:nvGrpSpPr>
        <p:cNvPr id="101" name="Shape 101"/>
        <p:cNvGrpSpPr/>
        <p:nvPr/>
      </p:nvGrpSpPr>
      <p:grpSpPr>
        <a:xfrm>
          <a:off x="0" y="0"/>
          <a:ext cx="0" cy="0"/>
          <a:chOff x="0" y="0"/>
          <a:chExt cx="0" cy="0"/>
        </a:xfrm>
      </p:grpSpPr>
      <p:sp>
        <p:nvSpPr>
          <p:cNvPr id="102" name="Google Shape;102;g3cf602efc4d_0_108"/>
          <p:cNvSpPr txBox="1"/>
          <p:nvPr>
            <p:ph idx="12" type="sldNum"/>
          </p:nvPr>
        </p:nvSpPr>
        <p:spPr>
          <a:xfrm>
            <a:off x="4419600" y="4627562"/>
            <a:ext cx="2133600" cy="276900"/>
          </a:xfrm>
          <a:prstGeom prst="rect">
            <a:avLst/>
          </a:prstGeom>
          <a:noFill/>
          <a:ln>
            <a:noFill/>
          </a:ln>
        </p:spPr>
        <p:txBody>
          <a:bodyPr anchorCtr="0" anchor="ctr" bIns="45700" lIns="45700" spcFirstLastPara="1" rIns="45700" wrap="square" tIns="45700">
            <a:spAutoFit/>
          </a:bodyPr>
          <a:lstStyle>
            <a:lvl1pPr indent="0" lvl="0"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Calibri"/>
              <a:buNone/>
              <a:defRPr b="0" i="0" sz="12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sz="100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3.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2.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g3cf602efc4d_0_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6" name="Google Shape;56;g3cf602efc4d_0_6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7" name="Google Shape;57;g3cf602efc4d_0_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c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sp>
        <p:nvSpPr>
          <p:cNvPr id="107" name="Google Shape;107;p1"/>
          <p:cNvSpPr txBox="1"/>
          <p:nvPr/>
        </p:nvSpPr>
        <p:spPr>
          <a:xfrm>
            <a:off x="346201" y="591546"/>
            <a:ext cx="8442000" cy="4281300"/>
          </a:xfrm>
          <a:prstGeom prst="rect">
            <a:avLst/>
          </a:prstGeom>
          <a:noFill/>
          <a:ln>
            <a:noFill/>
          </a:ln>
        </p:spPr>
        <p:txBody>
          <a:bodyPr anchorCtr="0" anchor="ctr" bIns="91425" lIns="91425" spcFirstLastPara="1" rIns="91425" wrap="square" tIns="91425">
            <a:noAutofit/>
          </a:bodyPr>
          <a:lstStyle/>
          <a:p>
            <a:pPr indent="0" lvl="0" marL="0" marR="0" rtl="0" algn="l">
              <a:lnSpc>
                <a:spcPct val="80000"/>
              </a:lnSpc>
              <a:spcBef>
                <a:spcPts val="0"/>
              </a:spcBef>
              <a:spcAft>
                <a:spcPts val="0"/>
              </a:spcAft>
              <a:buClr>
                <a:srgbClr val="000000"/>
              </a:buClr>
              <a:buSzPts val="16000"/>
              <a:buFont typeface="Arial"/>
              <a:buNone/>
            </a:pPr>
            <a:r>
              <a:rPr b="0" i="0" lang="cs" sz="16000" u="none" cap="none" strike="noStrike">
                <a:solidFill>
                  <a:schemeClr val="dk1"/>
                </a:solidFill>
                <a:latin typeface="Young Serif"/>
                <a:ea typeface="Young Serif"/>
                <a:cs typeface="Young Serif"/>
                <a:sym typeface="Young Serif"/>
              </a:rPr>
              <a:t>STORY</a:t>
            </a:r>
            <a:br>
              <a:rPr b="1" i="0" lang="cs" sz="16000" u="none" cap="none" strike="noStrike">
                <a:solidFill>
                  <a:schemeClr val="dk1"/>
                </a:solidFill>
                <a:latin typeface="Red Hat Display"/>
                <a:ea typeface="Red Hat Display"/>
                <a:cs typeface="Red Hat Display"/>
                <a:sym typeface="Red Hat Display"/>
              </a:rPr>
            </a:br>
            <a:r>
              <a:rPr b="0" i="0" lang="cs" sz="16000" u="none" cap="none" strike="noStrike">
                <a:solidFill>
                  <a:schemeClr val="dk1"/>
                </a:solidFill>
                <a:latin typeface="Red Hat Display ExtraBold"/>
                <a:ea typeface="Red Hat Display ExtraBold"/>
                <a:cs typeface="Red Hat Display ExtraBold"/>
                <a:sym typeface="Red Hat Display ExtraBold"/>
              </a:rPr>
              <a:t>TLRS</a:t>
            </a:r>
            <a:endParaRPr b="0" i="0" sz="16000" u="none" cap="none" strike="noStrike">
              <a:solidFill>
                <a:srgbClr val="000000"/>
              </a:solidFill>
              <a:latin typeface="Red Hat Display ExtraBold"/>
              <a:ea typeface="Red Hat Display ExtraBold"/>
              <a:cs typeface="Red Hat Display ExtraBold"/>
              <a:sym typeface="Red Hat Display ExtraBold"/>
            </a:endParaRPr>
          </a:p>
        </p:txBody>
      </p:sp>
      <p:sp>
        <p:nvSpPr>
          <p:cNvPr id="108" name="Google Shape;108;p1"/>
          <p:cNvSpPr/>
          <p:nvPr/>
        </p:nvSpPr>
        <p:spPr>
          <a:xfrm>
            <a:off x="3032600" y="1566250"/>
            <a:ext cx="1415100" cy="401100"/>
          </a:xfrm>
          <a:prstGeom prst="roundRect">
            <a:avLst>
              <a:gd fmla="val 50000" name="adj"/>
            </a:avLst>
          </a:prstGeom>
          <a:solidFill>
            <a:srgbClr val="9795F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cs" sz="1400" u="none" cap="none" strike="noStrike">
                <a:solidFill>
                  <a:srgbClr val="000000"/>
                </a:solidFill>
                <a:latin typeface="Red Hat Display ExtraBold"/>
                <a:ea typeface="Red Hat Display ExtraBold"/>
                <a:cs typeface="Red Hat Display ExtraBold"/>
                <a:sym typeface="Red Hat Display ExtraBold"/>
              </a:rPr>
              <a:t>discovery</a:t>
            </a:r>
            <a:endParaRPr b="0" i="0" sz="1400" u="none" cap="none" strike="noStrike">
              <a:solidFill>
                <a:srgbClr val="000000"/>
              </a:solidFill>
              <a:latin typeface="Red Hat Display ExtraBold"/>
              <a:ea typeface="Red Hat Display ExtraBold"/>
              <a:cs typeface="Red Hat Display ExtraBold"/>
              <a:sym typeface="Red Hat Display ExtraBold"/>
            </a:endParaRPr>
          </a:p>
        </p:txBody>
      </p:sp>
      <p:sp>
        <p:nvSpPr>
          <p:cNvPr id="109" name="Google Shape;109;p1"/>
          <p:cNvSpPr/>
          <p:nvPr/>
        </p:nvSpPr>
        <p:spPr>
          <a:xfrm>
            <a:off x="1544825" y="3555150"/>
            <a:ext cx="1282500" cy="401100"/>
          </a:xfrm>
          <a:prstGeom prst="roundRect">
            <a:avLst>
              <a:gd fmla="val 50000" name="adj"/>
            </a:avLst>
          </a:prstGeom>
          <a:solidFill>
            <a:srgbClr val="57DC6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cs" sz="1400" u="none" cap="none" strike="noStrike">
                <a:solidFill>
                  <a:srgbClr val="000000"/>
                </a:solidFill>
                <a:latin typeface="Red Hat Display ExtraBold"/>
                <a:ea typeface="Red Hat Display ExtraBold"/>
                <a:cs typeface="Red Hat Display ExtraBold"/>
                <a:sym typeface="Red Hat Display ExtraBold"/>
              </a:rPr>
              <a:t>strategy</a:t>
            </a:r>
            <a:endParaRPr b="0" i="0" sz="1400" u="none" cap="none" strike="noStrike">
              <a:solidFill>
                <a:srgbClr val="000000"/>
              </a:solidFill>
              <a:latin typeface="Red Hat Display ExtraBold"/>
              <a:ea typeface="Red Hat Display ExtraBold"/>
              <a:cs typeface="Red Hat Display ExtraBold"/>
              <a:sym typeface="Red Hat Display ExtraBold"/>
            </a:endParaRPr>
          </a:p>
        </p:txBody>
      </p:sp>
      <p:sp>
        <p:nvSpPr>
          <p:cNvPr id="110" name="Google Shape;110;p1"/>
          <p:cNvSpPr txBox="1"/>
          <p:nvPr/>
        </p:nvSpPr>
        <p:spPr>
          <a:xfrm>
            <a:off x="5909295" y="2759806"/>
            <a:ext cx="3000000" cy="1354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cs" sz="1900" u="none" cap="none" strike="noStrike">
                <a:solidFill>
                  <a:schemeClr val="dk1"/>
                </a:solidFill>
                <a:latin typeface="Young Serif"/>
                <a:ea typeface="Young Serif"/>
                <a:cs typeface="Young Serif"/>
                <a:sym typeface="Young Serif"/>
              </a:rPr>
              <a:t>TODAY WE </a:t>
            </a:r>
            <a:br>
              <a:rPr b="1" i="0" lang="cs" sz="1900" u="none" cap="none" strike="noStrike">
                <a:solidFill>
                  <a:schemeClr val="dk1"/>
                </a:solidFill>
                <a:latin typeface="Young Serif"/>
                <a:ea typeface="Young Serif"/>
                <a:cs typeface="Young Serif"/>
                <a:sym typeface="Young Serif"/>
              </a:rPr>
            </a:br>
            <a:r>
              <a:rPr b="1" i="0" lang="cs" sz="1900" u="none" cap="none" strike="noStrike">
                <a:solidFill>
                  <a:schemeClr val="dk1"/>
                </a:solidFill>
                <a:latin typeface="Young Serif"/>
                <a:ea typeface="Young Serif"/>
                <a:cs typeface="Young Serif"/>
                <a:sym typeface="Young Serif"/>
              </a:rPr>
              <a:t>TELL YOU A STORY </a:t>
            </a:r>
            <a:br>
              <a:rPr b="1" i="0" lang="cs" sz="1900" u="none" cap="none" strike="noStrike">
                <a:solidFill>
                  <a:schemeClr val="dk1"/>
                </a:solidFill>
                <a:latin typeface="Young Serif"/>
                <a:ea typeface="Young Serif"/>
                <a:cs typeface="Young Serif"/>
                <a:sym typeface="Young Serif"/>
              </a:rPr>
            </a:br>
            <a:r>
              <a:rPr b="1" i="0" lang="cs" sz="1900" u="none" cap="none" strike="noStrike">
                <a:solidFill>
                  <a:schemeClr val="dk1"/>
                </a:solidFill>
                <a:latin typeface="Young Serif"/>
                <a:ea typeface="Young Serif"/>
                <a:cs typeface="Young Serif"/>
                <a:sym typeface="Young Serif"/>
              </a:rPr>
              <a:t>ABOUT</a:t>
            </a:r>
            <a:r>
              <a:rPr b="1" i="0" lang="cs" sz="1900" u="none" cap="none" strike="noStrike">
                <a:solidFill>
                  <a:schemeClr val="dk1"/>
                </a:solidFill>
                <a:latin typeface="Red Hat Display"/>
                <a:ea typeface="Red Hat Display"/>
                <a:cs typeface="Red Hat Display"/>
                <a:sym typeface="Red Hat Display"/>
              </a:rPr>
              <a:t> </a:t>
            </a:r>
            <a:r>
              <a:rPr b="0" i="0" lang="cs" sz="1900" u="none" cap="none" strike="noStrike">
                <a:solidFill>
                  <a:schemeClr val="dk1"/>
                </a:solidFill>
                <a:latin typeface="Red Hat Display Black"/>
                <a:ea typeface="Red Hat Display Black"/>
                <a:cs typeface="Red Hat Display Black"/>
                <a:sym typeface="Red Hat Display Black"/>
              </a:rPr>
              <a:t>AROMA EXTRACT LABS.</a:t>
            </a:r>
            <a:endParaRPr b="0" i="0" sz="1400" u="none" cap="none" strike="noStrike">
              <a:solidFill>
                <a:srgbClr val="000000"/>
              </a:solidFill>
              <a:latin typeface="Red Hat Display Black"/>
              <a:ea typeface="Red Hat Display Black"/>
              <a:cs typeface="Red Hat Display Black"/>
              <a:sym typeface="Red Hat Display Black"/>
            </a:endParaRPr>
          </a:p>
        </p:txBody>
      </p:sp>
      <p:sp>
        <p:nvSpPr>
          <p:cNvPr id="111" name="Google Shape;111;p1"/>
          <p:cNvSpPr/>
          <p:nvPr/>
        </p:nvSpPr>
        <p:spPr>
          <a:xfrm>
            <a:off x="6537150" y="1711900"/>
            <a:ext cx="2184900" cy="401100"/>
          </a:xfrm>
          <a:prstGeom prst="roundRect">
            <a:avLst>
              <a:gd fmla="val 50000" name="adj"/>
            </a:avLst>
          </a:prstGeom>
          <a:solidFill>
            <a:srgbClr val="FF80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cs" sz="1400" u="none" cap="none" strike="noStrike">
                <a:solidFill>
                  <a:srgbClr val="000000"/>
                </a:solidFill>
                <a:latin typeface="Red Hat Display ExtraBold"/>
                <a:ea typeface="Red Hat Display ExtraBold"/>
                <a:cs typeface="Red Hat Display ExtraBold"/>
                <a:sym typeface="Red Hat Display ExtraBold"/>
              </a:rPr>
              <a:t>brand</a:t>
            </a:r>
            <a:endParaRPr b="0" i="0" sz="1400" u="none" cap="none" strike="noStrike">
              <a:solidFill>
                <a:srgbClr val="000000"/>
              </a:solidFill>
              <a:latin typeface="Red Hat Display ExtraBold"/>
              <a:ea typeface="Red Hat Display ExtraBold"/>
              <a:cs typeface="Red Hat Display ExtraBold"/>
              <a:sym typeface="Red Hat Display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cxnSp>
        <p:nvCxnSpPr>
          <p:cNvPr id="116" name="Google Shape;116;g3cf602efc4d_0_110"/>
          <p:cNvCxnSpPr/>
          <p:nvPr/>
        </p:nvCxnSpPr>
        <p:spPr>
          <a:xfrm rot="10800000">
            <a:off x="362400" y="570989"/>
            <a:ext cx="8419200" cy="0"/>
          </a:xfrm>
          <a:prstGeom prst="straightConnector1">
            <a:avLst/>
          </a:prstGeom>
          <a:noFill/>
          <a:ln cap="flat" cmpd="sng" w="9525">
            <a:solidFill>
              <a:schemeClr val="dk1"/>
            </a:solidFill>
            <a:prstDash val="solid"/>
            <a:round/>
            <a:headEnd len="sm" w="sm" type="none"/>
            <a:tailEnd len="sm" w="sm" type="none"/>
          </a:ln>
        </p:spPr>
      </p:cxnSp>
      <p:sp>
        <p:nvSpPr>
          <p:cNvPr id="117" name="Google Shape;117;g3cf602efc4d_0_110"/>
          <p:cNvSpPr txBox="1"/>
          <p:nvPr/>
        </p:nvSpPr>
        <p:spPr>
          <a:xfrm>
            <a:off x="3693367"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TODAY'S STORY</a:t>
            </a:r>
            <a:endParaRPr b="1" i="0" sz="1000" u="none" cap="none" strike="noStrike">
              <a:solidFill>
                <a:schemeClr val="dk1"/>
              </a:solidFill>
              <a:latin typeface="Red Hat Display"/>
              <a:ea typeface="Red Hat Display"/>
              <a:cs typeface="Red Hat Display"/>
              <a:sym typeface="Red Hat Display"/>
            </a:endParaRPr>
          </a:p>
        </p:txBody>
      </p:sp>
      <p:pic>
        <p:nvPicPr>
          <p:cNvPr id="118" name="Google Shape;118;g3cf602efc4d_0_110"/>
          <p:cNvPicPr preferRelativeResize="0"/>
          <p:nvPr/>
        </p:nvPicPr>
        <p:blipFill rotWithShape="1">
          <a:blip r:embed="rId4">
            <a:alphaModFix/>
          </a:blip>
          <a:srcRect b="0" l="0" r="0" t="0"/>
          <a:stretch/>
        </p:blipFill>
        <p:spPr>
          <a:xfrm>
            <a:off x="8113444" y="223090"/>
            <a:ext cx="217755" cy="178664"/>
          </a:xfrm>
          <a:prstGeom prst="rect">
            <a:avLst/>
          </a:prstGeom>
          <a:noFill/>
          <a:ln>
            <a:noFill/>
          </a:ln>
        </p:spPr>
      </p:pic>
      <p:sp>
        <p:nvSpPr>
          <p:cNvPr id="119" name="Google Shape;119;g3cf602efc4d_0_110"/>
          <p:cNvSpPr txBox="1"/>
          <p:nvPr/>
        </p:nvSpPr>
        <p:spPr>
          <a:xfrm>
            <a:off x="677175" y="1227425"/>
            <a:ext cx="2935800" cy="24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cs" sz="2500" u="none" cap="none" strike="noStrike">
                <a:solidFill>
                  <a:schemeClr val="dk1"/>
                </a:solidFill>
                <a:latin typeface="Red Hat Display Black"/>
                <a:ea typeface="Red Hat Display Black"/>
                <a:cs typeface="Red Hat Display Black"/>
                <a:sym typeface="Red Hat Display Black"/>
              </a:rPr>
              <a:t>Today's story </a:t>
            </a:r>
            <a:br>
              <a:rPr b="0" i="0" lang="cs" sz="2500" u="none" cap="none" strike="noStrike">
                <a:solidFill>
                  <a:schemeClr val="dk1"/>
                </a:solidFill>
                <a:latin typeface="Red Hat Display Black"/>
                <a:ea typeface="Red Hat Display Black"/>
                <a:cs typeface="Red Hat Display Black"/>
                <a:sym typeface="Red Hat Display Black"/>
              </a:rPr>
            </a:br>
            <a:r>
              <a:rPr b="1" i="0" lang="cs" sz="2500" u="none" cap="none" strike="noStrike">
                <a:solidFill>
                  <a:schemeClr val="dk1"/>
                </a:solidFill>
                <a:latin typeface="Young Serif"/>
                <a:ea typeface="Young Serif"/>
                <a:cs typeface="Young Serif"/>
                <a:sym typeface="Young Serif"/>
              </a:rPr>
              <a:t>comes together</a:t>
            </a:r>
            <a:endParaRPr b="1" i="0" sz="2500" u="none" cap="none" strike="noStrike">
              <a:solidFill>
                <a:schemeClr val="dk1"/>
              </a:solidFill>
              <a:latin typeface="Young Serif"/>
              <a:ea typeface="Young Serif"/>
              <a:cs typeface="Young Serif"/>
              <a:sym typeface="Young Serif"/>
            </a:endParaRPr>
          </a:p>
          <a:p>
            <a:pPr indent="0" lvl="0" marL="0" marR="0" rtl="0" algn="l">
              <a:lnSpc>
                <a:spcPct val="100000"/>
              </a:lnSpc>
              <a:spcBef>
                <a:spcPts val="0"/>
              </a:spcBef>
              <a:spcAft>
                <a:spcPts val="0"/>
              </a:spcAft>
              <a:buClr>
                <a:srgbClr val="000000"/>
              </a:buClr>
              <a:buSzPts val="2500"/>
              <a:buFont typeface="Arial"/>
              <a:buNone/>
            </a:pPr>
            <a:r>
              <a:rPr b="1" i="0" lang="cs" sz="2500" u="none" cap="none" strike="noStrike">
                <a:solidFill>
                  <a:schemeClr val="dk1"/>
                </a:solidFill>
                <a:latin typeface="Young Serif"/>
                <a:ea typeface="Young Serif"/>
                <a:cs typeface="Young Serif"/>
                <a:sym typeface="Young Serif"/>
              </a:rPr>
              <a:t>in these chapters</a:t>
            </a:r>
            <a:br>
              <a:rPr b="1" i="0" lang="cs" sz="2500" u="none" cap="none" strike="noStrike">
                <a:solidFill>
                  <a:schemeClr val="dk1"/>
                </a:solidFill>
                <a:latin typeface="Young Serif"/>
                <a:ea typeface="Young Serif"/>
                <a:cs typeface="Young Serif"/>
                <a:sym typeface="Young Serif"/>
              </a:rPr>
            </a:br>
            <a:endParaRPr b="1" i="0" sz="2500" u="none" cap="none" strike="noStrike">
              <a:solidFill>
                <a:schemeClr val="dk1"/>
              </a:solidFill>
              <a:latin typeface="Young Serif"/>
              <a:ea typeface="Young Serif"/>
              <a:cs typeface="Young Serif"/>
              <a:sym typeface="Young Serif"/>
            </a:endParaRPr>
          </a:p>
        </p:txBody>
      </p:sp>
      <p:sp>
        <p:nvSpPr>
          <p:cNvPr id="120" name="Google Shape;120;g3cf602efc4d_0_110"/>
          <p:cNvSpPr txBox="1"/>
          <p:nvPr/>
        </p:nvSpPr>
        <p:spPr>
          <a:xfrm>
            <a:off x="4079400" y="1227425"/>
            <a:ext cx="3908700" cy="3315300"/>
          </a:xfrm>
          <a:prstGeom prst="rect">
            <a:avLst/>
          </a:prstGeom>
          <a:noFill/>
          <a:ln>
            <a:noFill/>
          </a:ln>
        </p:spPr>
        <p:txBody>
          <a:bodyPr anchorCtr="0" anchor="t" bIns="91425" lIns="91425" spcFirstLastPara="1" rIns="91425" wrap="square" tIns="91425">
            <a:noAutofit/>
          </a:bodyPr>
          <a:lstStyle/>
          <a:p>
            <a:pPr indent="-323850" lvl="0" marL="457200" marR="0" rtl="0" algn="l">
              <a:lnSpc>
                <a:spcPct val="115000"/>
              </a:lnSpc>
              <a:spcBef>
                <a:spcPts val="0"/>
              </a:spcBef>
              <a:spcAft>
                <a:spcPts val="0"/>
              </a:spcAft>
              <a:buClr>
                <a:schemeClr val="dk1"/>
              </a:buClr>
              <a:buSzPts val="1500"/>
              <a:buFont typeface="Red Hat Display Medium"/>
              <a:buAutoNum type="arabicPeriod"/>
            </a:pPr>
            <a:r>
              <a:rPr b="0" i="0" lang="cs" sz="1500" u="none" cap="none" strike="noStrike">
                <a:solidFill>
                  <a:schemeClr val="dk1"/>
                </a:solidFill>
                <a:latin typeface="Red Hat Display Medium"/>
                <a:ea typeface="Red Hat Display Medium"/>
                <a:cs typeface="Red Hat Display Medium"/>
                <a:sym typeface="Red Hat Display Medium"/>
              </a:rPr>
              <a:t>Your brand as a main character</a:t>
            </a:r>
            <a:endParaRPr b="0" i="0" sz="1500" u="none" cap="none" strike="noStrike">
              <a:solidFill>
                <a:schemeClr val="dk1"/>
              </a:solidFill>
              <a:latin typeface="Red Hat Display Medium"/>
              <a:ea typeface="Red Hat Display Medium"/>
              <a:cs typeface="Red Hat Display Medium"/>
              <a:sym typeface="Red Hat Display Medium"/>
            </a:endParaRPr>
          </a:p>
          <a:p>
            <a:pPr indent="-323850" lvl="0" marL="457200" marR="0" rtl="0" algn="l">
              <a:lnSpc>
                <a:spcPct val="115000"/>
              </a:lnSpc>
              <a:spcBef>
                <a:spcPts val="0"/>
              </a:spcBef>
              <a:spcAft>
                <a:spcPts val="0"/>
              </a:spcAft>
              <a:buClr>
                <a:schemeClr val="dk1"/>
              </a:buClr>
              <a:buSzPts val="1500"/>
              <a:buFont typeface="Red Hat Display Medium"/>
              <a:buAutoNum type="arabicPeriod"/>
            </a:pPr>
            <a:r>
              <a:rPr b="0" i="0" lang="cs" sz="1500" u="none" cap="none" strike="noStrike">
                <a:solidFill>
                  <a:schemeClr val="dk1"/>
                </a:solidFill>
                <a:latin typeface="Red Hat Display Medium"/>
                <a:ea typeface="Red Hat Display Medium"/>
                <a:cs typeface="Red Hat Display Medium"/>
                <a:sym typeface="Red Hat Display Medium"/>
              </a:rPr>
              <a:t>Stories we told</a:t>
            </a:r>
            <a:endParaRPr b="0" i="0" sz="1500" u="none" cap="none" strike="noStrike">
              <a:solidFill>
                <a:schemeClr val="dk1"/>
              </a:solidFill>
              <a:latin typeface="Red Hat Display Medium"/>
              <a:ea typeface="Red Hat Display Medium"/>
              <a:cs typeface="Red Hat Display Medium"/>
              <a:sym typeface="Red Hat Display Medium"/>
            </a:endParaRPr>
          </a:p>
          <a:p>
            <a:pPr indent="-323850" lvl="0" marL="457200" marR="0" rtl="0" algn="l">
              <a:lnSpc>
                <a:spcPct val="115000"/>
              </a:lnSpc>
              <a:spcBef>
                <a:spcPts val="0"/>
              </a:spcBef>
              <a:spcAft>
                <a:spcPts val="0"/>
              </a:spcAft>
              <a:buClr>
                <a:schemeClr val="dk1"/>
              </a:buClr>
              <a:buSzPts val="1500"/>
              <a:buFont typeface="Red Hat Display Medium"/>
              <a:buAutoNum type="arabicPeriod"/>
            </a:pPr>
            <a:r>
              <a:rPr b="0" i="0" lang="cs" sz="1500" u="none" cap="none" strike="noStrike">
                <a:solidFill>
                  <a:schemeClr val="dk1"/>
                </a:solidFill>
                <a:latin typeface="Red Hat Display Medium"/>
                <a:ea typeface="Red Hat Display Medium"/>
                <a:cs typeface="Red Hat Display Medium"/>
                <a:sym typeface="Red Hat Display Medium"/>
              </a:rPr>
              <a:t>(Y)our protagonists </a:t>
            </a:r>
            <a:endParaRPr b="0" i="0" sz="1500" u="none" cap="none" strike="noStrike">
              <a:solidFill>
                <a:schemeClr val="dk1"/>
              </a:solidFill>
              <a:latin typeface="Red Hat Display Medium"/>
              <a:ea typeface="Red Hat Display Medium"/>
              <a:cs typeface="Red Hat Display Medium"/>
              <a:sym typeface="Red Hat Display Medium"/>
            </a:endParaRPr>
          </a:p>
        </p:txBody>
      </p:sp>
      <p:sp>
        <p:nvSpPr>
          <p:cNvPr id="121" name="Google Shape;121;g3cf602efc4d_0_110"/>
          <p:cNvSpPr txBox="1"/>
          <p:nvPr/>
        </p:nvSpPr>
        <p:spPr>
          <a:xfrm>
            <a:off x="709942"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PROLOG</a:t>
            </a:r>
            <a:endParaRPr b="1" i="0" sz="1000" u="none" cap="none" strike="noStrike">
              <a:solidFill>
                <a:schemeClr val="dk1"/>
              </a:solidFill>
              <a:latin typeface="Red Hat Display"/>
              <a:ea typeface="Red Hat Display"/>
              <a:cs typeface="Red Hat Display"/>
              <a:sym typeface="Red Hat Dis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pic>
        <p:nvPicPr>
          <p:cNvPr id="126" name="Google Shape;126;g3cf602efc4d_0_119"/>
          <p:cNvPicPr preferRelativeResize="0"/>
          <p:nvPr/>
        </p:nvPicPr>
        <p:blipFill rotWithShape="1">
          <a:blip r:embed="rId4">
            <a:alphaModFix/>
          </a:blip>
          <a:srcRect b="14197" l="4701" r="4374" t="14247"/>
          <a:stretch/>
        </p:blipFill>
        <p:spPr>
          <a:xfrm>
            <a:off x="529175" y="870175"/>
            <a:ext cx="8313802" cy="3680651"/>
          </a:xfrm>
          <a:prstGeom prst="rect">
            <a:avLst/>
          </a:prstGeom>
          <a:noFill/>
          <a:ln>
            <a:noFill/>
          </a:ln>
        </p:spPr>
      </p:pic>
      <p:sp>
        <p:nvSpPr>
          <p:cNvPr id="127" name="Google Shape;127;g3cf602efc4d_0_119"/>
          <p:cNvSpPr txBox="1"/>
          <p:nvPr/>
        </p:nvSpPr>
        <p:spPr>
          <a:xfrm>
            <a:off x="529175" y="2122725"/>
            <a:ext cx="7363500" cy="273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100"/>
              <a:buFont typeface="Arial"/>
              <a:buNone/>
            </a:pPr>
            <a:r>
              <a:rPr b="1" i="0" lang="cs" sz="5100" u="none" cap="none" strike="noStrike">
                <a:solidFill>
                  <a:schemeClr val="dk1"/>
                </a:solidFill>
                <a:latin typeface="Young Serif"/>
                <a:ea typeface="Young Serif"/>
                <a:cs typeface="Young Serif"/>
                <a:sym typeface="Young Serif"/>
              </a:rPr>
              <a:t>YOUR BRAND AS MAIN CHARACTER</a:t>
            </a:r>
            <a:endParaRPr b="0" i="0" sz="5100" u="none" cap="none" strike="noStrike">
              <a:solidFill>
                <a:schemeClr val="dk1"/>
              </a:solidFill>
              <a:latin typeface="Red Hat Display Black"/>
              <a:ea typeface="Red Hat Display Black"/>
              <a:cs typeface="Red Hat Display Black"/>
              <a:sym typeface="Red Hat Display Black"/>
            </a:endParaRPr>
          </a:p>
        </p:txBody>
      </p:sp>
      <p:pic>
        <p:nvPicPr>
          <p:cNvPr id="128" name="Google Shape;128;g3cf602efc4d_0_119"/>
          <p:cNvPicPr preferRelativeResize="0"/>
          <p:nvPr/>
        </p:nvPicPr>
        <p:blipFill rotWithShape="1">
          <a:blip r:embed="rId5">
            <a:alphaModFix/>
          </a:blip>
          <a:srcRect b="0" l="0" r="0" t="0"/>
          <a:stretch/>
        </p:blipFill>
        <p:spPr>
          <a:xfrm>
            <a:off x="721072" y="362940"/>
            <a:ext cx="408942" cy="33553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2" name="Shape 132"/>
        <p:cNvGrpSpPr/>
        <p:nvPr/>
      </p:nvGrpSpPr>
      <p:grpSpPr>
        <a:xfrm>
          <a:off x="0" y="0"/>
          <a:ext cx="0" cy="0"/>
          <a:chOff x="0" y="0"/>
          <a:chExt cx="0" cy="0"/>
        </a:xfrm>
      </p:grpSpPr>
      <p:cxnSp>
        <p:nvCxnSpPr>
          <p:cNvPr id="133" name="Google Shape;133;p2"/>
          <p:cNvCxnSpPr/>
          <p:nvPr/>
        </p:nvCxnSpPr>
        <p:spPr>
          <a:xfrm rot="10800000">
            <a:off x="362400" y="570989"/>
            <a:ext cx="8419200" cy="0"/>
          </a:xfrm>
          <a:prstGeom prst="straightConnector1">
            <a:avLst/>
          </a:prstGeom>
          <a:noFill/>
          <a:ln cap="flat" cmpd="sng" w="9525">
            <a:solidFill>
              <a:schemeClr val="dk1"/>
            </a:solidFill>
            <a:prstDash val="solid"/>
            <a:round/>
            <a:headEnd len="sm" w="sm" type="none"/>
            <a:tailEnd len="sm" w="sm" type="none"/>
          </a:ln>
        </p:spPr>
      </p:cxnSp>
      <p:sp>
        <p:nvSpPr>
          <p:cNvPr id="134" name="Google Shape;134;p2"/>
          <p:cNvSpPr txBox="1"/>
          <p:nvPr/>
        </p:nvSpPr>
        <p:spPr>
          <a:xfrm>
            <a:off x="3693367"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cs" sz="1000" u="none" cap="none" strike="noStrike">
                <a:solidFill>
                  <a:schemeClr val="dk1"/>
                </a:solidFill>
                <a:latin typeface="Red Hat Display"/>
                <a:ea typeface="Red Hat Display"/>
                <a:cs typeface="Red Hat Display"/>
                <a:sym typeface="Red Hat Display"/>
              </a:rPr>
              <a:t>AROMA EXTRACT LABS</a:t>
            </a:r>
            <a:endParaRPr b="1" i="0" sz="1000" u="none" cap="none" strike="noStrike">
              <a:solidFill>
                <a:schemeClr val="dk1"/>
              </a:solidFill>
              <a:latin typeface="Red Hat Display"/>
              <a:ea typeface="Red Hat Display"/>
              <a:cs typeface="Red Hat Display"/>
              <a:sym typeface="Red Hat Display"/>
            </a:endParaRPr>
          </a:p>
        </p:txBody>
      </p:sp>
      <p:pic>
        <p:nvPicPr>
          <p:cNvPr id="135" name="Google Shape;135;p2"/>
          <p:cNvPicPr preferRelativeResize="0"/>
          <p:nvPr/>
        </p:nvPicPr>
        <p:blipFill rotWithShape="1">
          <a:blip r:embed="rId4">
            <a:alphaModFix/>
          </a:blip>
          <a:srcRect b="0" l="0" r="0" t="0"/>
          <a:stretch/>
        </p:blipFill>
        <p:spPr>
          <a:xfrm>
            <a:off x="8113444" y="223090"/>
            <a:ext cx="217755" cy="178664"/>
          </a:xfrm>
          <a:prstGeom prst="rect">
            <a:avLst/>
          </a:prstGeom>
          <a:noFill/>
          <a:ln>
            <a:noFill/>
          </a:ln>
        </p:spPr>
      </p:pic>
      <p:sp>
        <p:nvSpPr>
          <p:cNvPr id="136" name="Google Shape;136;p2"/>
          <p:cNvSpPr txBox="1"/>
          <p:nvPr/>
        </p:nvSpPr>
        <p:spPr>
          <a:xfrm>
            <a:off x="677175" y="1227425"/>
            <a:ext cx="3402300" cy="24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cs" sz="3800" u="none" cap="none" strike="noStrike">
                <a:solidFill>
                  <a:schemeClr val="dk1"/>
                </a:solidFill>
                <a:latin typeface="Red Hat Display Black"/>
                <a:ea typeface="Red Hat Display Black"/>
                <a:cs typeface="Red Hat Display Black"/>
                <a:sym typeface="Red Hat Display Black"/>
              </a:rPr>
              <a:t>We did our</a:t>
            </a:r>
            <a:endParaRPr b="1" i="0" sz="3800" u="none" cap="none" strike="noStrike">
              <a:solidFill>
                <a:schemeClr val="dk1"/>
              </a:solidFill>
              <a:latin typeface="Young Serif"/>
              <a:ea typeface="Young Serif"/>
              <a:cs typeface="Young Serif"/>
              <a:sym typeface="Young Serif"/>
            </a:endParaRPr>
          </a:p>
          <a:p>
            <a:pPr indent="0" lvl="0" marL="0" marR="0" rtl="0" algn="l">
              <a:lnSpc>
                <a:spcPct val="100000"/>
              </a:lnSpc>
              <a:spcBef>
                <a:spcPts val="0"/>
              </a:spcBef>
              <a:spcAft>
                <a:spcPts val="0"/>
              </a:spcAft>
              <a:buClr>
                <a:srgbClr val="000000"/>
              </a:buClr>
              <a:buSzPts val="3800"/>
              <a:buFont typeface="Arial"/>
              <a:buNone/>
            </a:pPr>
            <a:r>
              <a:rPr b="1" i="0" lang="cs" sz="3800" u="none" cap="none" strike="noStrike">
                <a:solidFill>
                  <a:schemeClr val="dk1"/>
                </a:solidFill>
                <a:latin typeface="Young Serif"/>
                <a:ea typeface="Young Serif"/>
                <a:cs typeface="Young Serif"/>
                <a:sym typeface="Young Serif"/>
              </a:rPr>
              <a:t>homework.</a:t>
            </a:r>
            <a:endParaRPr b="1" i="0" sz="3800" u="none" cap="none" strike="noStrike">
              <a:solidFill>
                <a:schemeClr val="dk1"/>
              </a:solidFill>
              <a:latin typeface="Young Serif"/>
              <a:ea typeface="Young Serif"/>
              <a:cs typeface="Young Serif"/>
              <a:sym typeface="Young Serif"/>
            </a:endParaRPr>
          </a:p>
        </p:txBody>
      </p:sp>
      <p:sp>
        <p:nvSpPr>
          <p:cNvPr id="137" name="Google Shape;137;p2"/>
          <p:cNvSpPr txBox="1"/>
          <p:nvPr/>
        </p:nvSpPr>
        <p:spPr>
          <a:xfrm>
            <a:off x="4079400" y="1227425"/>
            <a:ext cx="3908700" cy="3315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Aroma Extract Labs is a pharma-grade extraction company rooted in deep science — a partnership with VŠCHT Prague, Ecocert Cosmos certification, and proprietary processes that put you in the top tier of European producers.</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1200"/>
              </a:spcBef>
              <a:spcAft>
                <a:spcPts val="0"/>
              </a:spcAft>
              <a:buClr>
                <a:schemeClr val="dk1"/>
              </a:buClr>
              <a:buSzPts val="11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You supply B2B clients across cosmetics, wellness, and nutraceuticals. And with the launch of AEL International Group, the ambitions are clearly global.</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1200"/>
              </a:spcBef>
              <a:spcAft>
                <a:spcPts val="700"/>
              </a:spcAft>
              <a:buClr>
                <a:srgbClr val="000000"/>
              </a:buClr>
              <a:buSzPts val="13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We're not here to explain your business to you. We're here because we studied it — and </a:t>
            </a:r>
            <a:r>
              <a:rPr b="0" i="0" lang="cs" sz="1300" u="none" cap="none" strike="noStrike">
                <a:solidFill>
                  <a:schemeClr val="dk1"/>
                </a:solidFill>
                <a:highlight>
                  <a:srgbClr val="33B6FF"/>
                </a:highlight>
                <a:latin typeface="Red Hat Display Medium"/>
                <a:ea typeface="Red Hat Display Medium"/>
                <a:cs typeface="Red Hat Display Medium"/>
                <a:sym typeface="Red Hat Display Medium"/>
              </a:rPr>
              <a:t>we see an opportunity</a:t>
            </a:r>
            <a:r>
              <a:rPr b="0" i="0" lang="cs" sz="1300" u="none" cap="none" strike="noStrike">
                <a:solidFill>
                  <a:schemeClr val="dk1"/>
                </a:solidFill>
                <a:latin typeface="Red Hat Display Medium"/>
                <a:ea typeface="Red Hat Display Medium"/>
                <a:cs typeface="Red Hat Display Medium"/>
                <a:sym typeface="Red Hat Display Medium"/>
              </a:rPr>
              <a:t>.</a:t>
            </a:r>
            <a:endParaRPr b="0" i="0" sz="1300" u="none" cap="none" strike="noStrike">
              <a:solidFill>
                <a:schemeClr val="dk1"/>
              </a:solidFill>
              <a:latin typeface="Red Hat Display Medium"/>
              <a:ea typeface="Red Hat Display Medium"/>
              <a:cs typeface="Red Hat Display Medium"/>
              <a:sym typeface="Red Hat Display Medium"/>
            </a:endParaRPr>
          </a:p>
        </p:txBody>
      </p:sp>
      <p:sp>
        <p:nvSpPr>
          <p:cNvPr id="138" name="Google Shape;138;p2"/>
          <p:cNvSpPr txBox="1"/>
          <p:nvPr/>
        </p:nvSpPr>
        <p:spPr>
          <a:xfrm>
            <a:off x="709942"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CHAPTER 01</a:t>
            </a:r>
            <a:endParaRPr b="1" i="0" sz="1000" u="none" cap="none" strike="noStrike">
              <a:solidFill>
                <a:schemeClr val="dk1"/>
              </a:solidFill>
              <a:latin typeface="Red Hat Display"/>
              <a:ea typeface="Red Hat Display"/>
              <a:cs typeface="Red Hat Display"/>
              <a:sym typeface="Red Hat Displ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cxnSp>
        <p:nvCxnSpPr>
          <p:cNvPr id="143" name="Google Shape;143;p3"/>
          <p:cNvCxnSpPr/>
          <p:nvPr/>
        </p:nvCxnSpPr>
        <p:spPr>
          <a:xfrm rot="10800000">
            <a:off x="362400" y="570989"/>
            <a:ext cx="8419200" cy="0"/>
          </a:xfrm>
          <a:prstGeom prst="straightConnector1">
            <a:avLst/>
          </a:prstGeom>
          <a:noFill/>
          <a:ln cap="flat" cmpd="sng" w="9525">
            <a:solidFill>
              <a:schemeClr val="dk1"/>
            </a:solidFill>
            <a:prstDash val="solid"/>
            <a:round/>
            <a:headEnd len="sm" w="sm" type="none"/>
            <a:tailEnd len="sm" w="sm" type="none"/>
          </a:ln>
        </p:spPr>
      </p:cxnSp>
      <p:sp>
        <p:nvSpPr>
          <p:cNvPr id="144" name="Google Shape;144;p3"/>
          <p:cNvSpPr txBox="1"/>
          <p:nvPr/>
        </p:nvSpPr>
        <p:spPr>
          <a:xfrm>
            <a:off x="3693367"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cs" sz="1000" u="none" cap="none" strike="noStrike">
                <a:solidFill>
                  <a:schemeClr val="dk1"/>
                </a:solidFill>
                <a:latin typeface="Red Hat Display"/>
                <a:ea typeface="Red Hat Display"/>
                <a:cs typeface="Red Hat Display"/>
                <a:sym typeface="Red Hat Display"/>
              </a:rPr>
              <a:t>DIGITAL PRESENCE</a:t>
            </a:r>
            <a:endParaRPr b="1" i="0" sz="1000" u="none" cap="none" strike="noStrike">
              <a:solidFill>
                <a:schemeClr val="dk1"/>
              </a:solidFill>
              <a:latin typeface="Red Hat Display"/>
              <a:ea typeface="Red Hat Display"/>
              <a:cs typeface="Red Hat Display"/>
              <a:sym typeface="Red Hat Display"/>
            </a:endParaRPr>
          </a:p>
        </p:txBody>
      </p:sp>
      <p:pic>
        <p:nvPicPr>
          <p:cNvPr id="145" name="Google Shape;145;p3"/>
          <p:cNvPicPr preferRelativeResize="0"/>
          <p:nvPr/>
        </p:nvPicPr>
        <p:blipFill rotWithShape="1">
          <a:blip r:embed="rId4">
            <a:alphaModFix/>
          </a:blip>
          <a:srcRect b="0" l="0" r="0" t="0"/>
          <a:stretch/>
        </p:blipFill>
        <p:spPr>
          <a:xfrm>
            <a:off x="8113444" y="223090"/>
            <a:ext cx="217755" cy="178664"/>
          </a:xfrm>
          <a:prstGeom prst="rect">
            <a:avLst/>
          </a:prstGeom>
          <a:noFill/>
          <a:ln>
            <a:noFill/>
          </a:ln>
        </p:spPr>
      </p:pic>
      <p:sp>
        <p:nvSpPr>
          <p:cNvPr id="146" name="Google Shape;146;p3"/>
          <p:cNvSpPr txBox="1"/>
          <p:nvPr/>
        </p:nvSpPr>
        <p:spPr>
          <a:xfrm>
            <a:off x="677175" y="1227425"/>
            <a:ext cx="3402300" cy="24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cs" sz="3800" u="none" cap="none" strike="noStrike">
                <a:solidFill>
                  <a:schemeClr val="dk1"/>
                </a:solidFill>
                <a:latin typeface="Red Hat Display Black"/>
                <a:ea typeface="Red Hat Display Black"/>
                <a:cs typeface="Red Hat Display Black"/>
                <a:sym typeface="Red Hat Display Black"/>
              </a:rPr>
              <a:t>Where is </a:t>
            </a:r>
            <a:endParaRPr b="0" i="0" sz="3800" u="none" cap="none" strike="noStrike">
              <a:solidFill>
                <a:schemeClr val="dk1"/>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Clr>
                <a:srgbClr val="000000"/>
              </a:buClr>
              <a:buSzPts val="3800"/>
              <a:buFont typeface="Arial"/>
              <a:buNone/>
            </a:pPr>
            <a:r>
              <a:rPr b="1" i="0" lang="cs" sz="3800" u="none" cap="none" strike="noStrike">
                <a:solidFill>
                  <a:schemeClr val="dk1"/>
                </a:solidFill>
                <a:latin typeface="Young Serif"/>
                <a:ea typeface="Young Serif"/>
                <a:cs typeface="Young Serif"/>
                <a:sym typeface="Young Serif"/>
              </a:rPr>
              <a:t>the gap</a:t>
            </a:r>
            <a:endParaRPr b="1" i="0" sz="3800" u="none" cap="none" strike="noStrike">
              <a:solidFill>
                <a:schemeClr val="dk1"/>
              </a:solidFill>
              <a:latin typeface="Young Serif"/>
              <a:ea typeface="Young Serif"/>
              <a:cs typeface="Young Serif"/>
              <a:sym typeface="Young Serif"/>
            </a:endParaRPr>
          </a:p>
        </p:txBody>
      </p:sp>
      <p:sp>
        <p:nvSpPr>
          <p:cNvPr id="147" name="Google Shape;147;p3"/>
          <p:cNvSpPr txBox="1"/>
          <p:nvPr/>
        </p:nvSpPr>
        <p:spPr>
          <a:xfrm>
            <a:off x="4079400" y="1227425"/>
            <a:ext cx="3908700" cy="3315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Your technology and certifications are in the </a:t>
            </a:r>
            <a:r>
              <a:rPr b="0" i="0" lang="cs" sz="1300" u="none" cap="none" strike="noStrike">
                <a:solidFill>
                  <a:schemeClr val="dk1"/>
                </a:solidFill>
                <a:highlight>
                  <a:srgbClr val="33B6FF"/>
                </a:highlight>
                <a:latin typeface="Red Hat Display Medium"/>
                <a:ea typeface="Red Hat Display Medium"/>
                <a:cs typeface="Red Hat Display Medium"/>
                <a:sym typeface="Red Hat Display Medium"/>
              </a:rPr>
              <a:t>top 5% of the industry</a:t>
            </a:r>
            <a:r>
              <a:rPr b="0" i="0" lang="cs" sz="1300" u="none" cap="none" strike="noStrike">
                <a:solidFill>
                  <a:schemeClr val="dk1"/>
                </a:solidFill>
                <a:latin typeface="Red Hat Display Medium"/>
                <a:ea typeface="Red Hat Display Medium"/>
                <a:cs typeface="Red Hat Display Medium"/>
                <a:sym typeface="Red Hat Display Medium"/>
              </a:rPr>
              <a:t>. Your digital presence is at startup level.</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1200"/>
              </a:spcBef>
              <a:spcAft>
                <a:spcPts val="0"/>
              </a:spcAft>
              <a:buClr>
                <a:schemeClr val="dk1"/>
              </a:buClr>
              <a:buSzPts val="11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Facebook: ~39 followers. LinkedIn: minimal activity. Instagram and TikTok: zero.</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1200"/>
              </a:spcBef>
              <a:spcAft>
                <a:spcPts val="700"/>
              </a:spcAft>
              <a:buClr>
                <a:srgbClr val="000000"/>
              </a:buClr>
              <a:buSzPts val="1300"/>
              <a:buFont typeface="Arial"/>
              <a:buNone/>
            </a:pPr>
            <a:r>
              <a:rPr b="0" i="0" lang="cs" sz="1300" u="none" cap="none" strike="noStrike">
                <a:solidFill>
                  <a:schemeClr val="dk1"/>
                </a:solidFill>
                <a:highlight>
                  <a:srgbClr val="33B6FF"/>
                </a:highlight>
                <a:latin typeface="Red Hat Display Medium"/>
                <a:ea typeface="Red Hat Display Medium"/>
                <a:cs typeface="Red Hat Display Medium"/>
                <a:sym typeface="Red Hat Display Medium"/>
              </a:rPr>
              <a:t>Your potential clients are searching for you online — and they can’t find you.</a:t>
            </a:r>
            <a:endParaRPr b="0" i="0" sz="1300" u="none" cap="none" strike="noStrike">
              <a:solidFill>
                <a:schemeClr val="dk1"/>
              </a:solidFill>
              <a:highlight>
                <a:srgbClr val="33B6FF"/>
              </a:highlight>
              <a:latin typeface="Red Hat Display Medium"/>
              <a:ea typeface="Red Hat Display Medium"/>
              <a:cs typeface="Red Hat Display Medium"/>
              <a:sym typeface="Red Hat Display Medium"/>
            </a:endParaRPr>
          </a:p>
        </p:txBody>
      </p:sp>
      <p:sp>
        <p:nvSpPr>
          <p:cNvPr id="148" name="Google Shape;148;p3"/>
          <p:cNvSpPr txBox="1"/>
          <p:nvPr/>
        </p:nvSpPr>
        <p:spPr>
          <a:xfrm>
            <a:off x="709942"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CHAPTER 01</a:t>
            </a:r>
            <a:endParaRPr b="1" i="0" sz="1000" u="none" cap="none" strike="noStrike">
              <a:solidFill>
                <a:schemeClr val="dk1"/>
              </a:solidFill>
              <a:latin typeface="Red Hat Display"/>
              <a:ea typeface="Red Hat Display"/>
              <a:cs typeface="Red Hat Display"/>
              <a:sym typeface="Red Hat Displ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2" name="Shape 152"/>
        <p:cNvGrpSpPr/>
        <p:nvPr/>
      </p:nvGrpSpPr>
      <p:grpSpPr>
        <a:xfrm>
          <a:off x="0" y="0"/>
          <a:ext cx="0" cy="0"/>
          <a:chOff x="0" y="0"/>
          <a:chExt cx="0" cy="0"/>
        </a:xfrm>
      </p:grpSpPr>
      <p:cxnSp>
        <p:nvCxnSpPr>
          <p:cNvPr id="153" name="Google Shape;153;p4"/>
          <p:cNvCxnSpPr/>
          <p:nvPr/>
        </p:nvCxnSpPr>
        <p:spPr>
          <a:xfrm rot="10800000">
            <a:off x="362400" y="570989"/>
            <a:ext cx="8419200" cy="0"/>
          </a:xfrm>
          <a:prstGeom prst="straightConnector1">
            <a:avLst/>
          </a:prstGeom>
          <a:noFill/>
          <a:ln cap="flat" cmpd="sng" w="9525">
            <a:solidFill>
              <a:schemeClr val="dk1"/>
            </a:solidFill>
            <a:prstDash val="solid"/>
            <a:round/>
            <a:headEnd len="sm" w="sm" type="none"/>
            <a:tailEnd len="sm" w="sm" type="none"/>
          </a:ln>
        </p:spPr>
      </p:cxnSp>
      <p:sp>
        <p:nvSpPr>
          <p:cNvPr id="154" name="Google Shape;154;p4"/>
          <p:cNvSpPr txBox="1"/>
          <p:nvPr/>
        </p:nvSpPr>
        <p:spPr>
          <a:xfrm>
            <a:off x="3693367"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cs" sz="1000" u="none" cap="none" strike="noStrike">
                <a:solidFill>
                  <a:schemeClr val="dk1"/>
                </a:solidFill>
                <a:latin typeface="Red Hat Display"/>
                <a:ea typeface="Red Hat Display"/>
                <a:cs typeface="Red Hat Display"/>
                <a:sym typeface="Red Hat Display"/>
              </a:rPr>
              <a:t>MARKET CONTEXT</a:t>
            </a:r>
            <a:endParaRPr b="1" i="0" sz="1000" u="none" cap="none" strike="noStrike">
              <a:solidFill>
                <a:schemeClr val="dk1"/>
              </a:solidFill>
              <a:latin typeface="Red Hat Display"/>
              <a:ea typeface="Red Hat Display"/>
              <a:cs typeface="Red Hat Display"/>
              <a:sym typeface="Red Hat Display"/>
            </a:endParaRPr>
          </a:p>
        </p:txBody>
      </p:sp>
      <p:pic>
        <p:nvPicPr>
          <p:cNvPr id="155" name="Google Shape;155;p4"/>
          <p:cNvPicPr preferRelativeResize="0"/>
          <p:nvPr/>
        </p:nvPicPr>
        <p:blipFill rotWithShape="1">
          <a:blip r:embed="rId4">
            <a:alphaModFix/>
          </a:blip>
          <a:srcRect b="0" l="0" r="0" t="0"/>
          <a:stretch/>
        </p:blipFill>
        <p:spPr>
          <a:xfrm>
            <a:off x="8113444" y="223090"/>
            <a:ext cx="217755" cy="178664"/>
          </a:xfrm>
          <a:prstGeom prst="rect">
            <a:avLst/>
          </a:prstGeom>
          <a:noFill/>
          <a:ln>
            <a:noFill/>
          </a:ln>
        </p:spPr>
      </p:pic>
      <p:sp>
        <p:nvSpPr>
          <p:cNvPr id="156" name="Google Shape;156;p4"/>
          <p:cNvSpPr txBox="1"/>
          <p:nvPr/>
        </p:nvSpPr>
        <p:spPr>
          <a:xfrm>
            <a:off x="677175" y="1227425"/>
            <a:ext cx="3402300" cy="24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cs" sz="3800" u="none" cap="none" strike="noStrike">
                <a:solidFill>
                  <a:schemeClr val="dk1"/>
                </a:solidFill>
                <a:latin typeface="Red Hat Display Black"/>
                <a:ea typeface="Red Hat Display Black"/>
                <a:cs typeface="Red Hat Display Black"/>
                <a:sym typeface="Red Hat Display Black"/>
              </a:rPr>
              <a:t>Why it</a:t>
            </a:r>
            <a:endParaRPr b="1" i="0" sz="3800" u="none" cap="none" strike="noStrike">
              <a:solidFill>
                <a:schemeClr val="dk1"/>
              </a:solidFill>
              <a:latin typeface="Young Serif"/>
              <a:ea typeface="Young Serif"/>
              <a:cs typeface="Young Serif"/>
              <a:sym typeface="Young Serif"/>
            </a:endParaRPr>
          </a:p>
          <a:p>
            <a:pPr indent="0" lvl="0" marL="0" marR="0" rtl="0" algn="l">
              <a:lnSpc>
                <a:spcPct val="100000"/>
              </a:lnSpc>
              <a:spcBef>
                <a:spcPts val="0"/>
              </a:spcBef>
              <a:spcAft>
                <a:spcPts val="0"/>
              </a:spcAft>
              <a:buClr>
                <a:srgbClr val="000000"/>
              </a:buClr>
              <a:buSzPts val="3800"/>
              <a:buFont typeface="Arial"/>
              <a:buNone/>
            </a:pPr>
            <a:r>
              <a:rPr b="1" i="0" lang="cs" sz="3800" u="none" cap="none" strike="noStrike">
                <a:solidFill>
                  <a:schemeClr val="dk1"/>
                </a:solidFill>
                <a:latin typeface="Young Serif"/>
                <a:ea typeface="Young Serif"/>
                <a:cs typeface="Young Serif"/>
                <a:sym typeface="Young Serif"/>
              </a:rPr>
              <a:t>matters now.</a:t>
            </a:r>
            <a:endParaRPr b="1" i="0" sz="3800" u="none" cap="none" strike="noStrike">
              <a:solidFill>
                <a:schemeClr val="dk1"/>
              </a:solidFill>
              <a:latin typeface="Young Serif"/>
              <a:ea typeface="Young Serif"/>
              <a:cs typeface="Young Serif"/>
              <a:sym typeface="Young Serif"/>
            </a:endParaRPr>
          </a:p>
        </p:txBody>
      </p:sp>
      <p:sp>
        <p:nvSpPr>
          <p:cNvPr id="157" name="Google Shape;157;p4"/>
          <p:cNvSpPr txBox="1"/>
          <p:nvPr/>
        </p:nvSpPr>
        <p:spPr>
          <a:xfrm>
            <a:off x="4079400" y="1227425"/>
            <a:ext cx="3908700" cy="3315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The clean beauty and natural ingredients market is growing fast. B2B buyers increasingly start their research on LinkedIn and Google — not at trade fairs.</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1200"/>
              </a:spcBef>
              <a:spcAft>
                <a:spcPts val="0"/>
              </a:spcAft>
              <a:buClr>
                <a:schemeClr val="dk1"/>
              </a:buClr>
              <a:buSzPts val="11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Your competitors are beginning to invest in brand communication. The window to lead is still open.</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1200"/>
              </a:spcBef>
              <a:spcAft>
                <a:spcPts val="700"/>
              </a:spcAft>
              <a:buClr>
                <a:srgbClr val="000000"/>
              </a:buClr>
              <a:buSzPts val="13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Building a brand from zero without legacy is </a:t>
            </a:r>
            <a:r>
              <a:rPr b="0" i="0" lang="cs" sz="1300" u="none" cap="none" strike="noStrike">
                <a:solidFill>
                  <a:schemeClr val="dk1"/>
                </a:solidFill>
                <a:highlight>
                  <a:srgbClr val="33B6FF"/>
                </a:highlight>
                <a:latin typeface="Red Hat Display Medium"/>
                <a:ea typeface="Red Hat Display Medium"/>
                <a:cs typeface="Red Hat Display Medium"/>
                <a:sym typeface="Red Hat Display Medium"/>
              </a:rPr>
              <a:t>an advantage, not a handicap</a:t>
            </a:r>
            <a:r>
              <a:rPr b="0" i="0" lang="cs" sz="1300" u="none" cap="none" strike="noStrike">
                <a:solidFill>
                  <a:schemeClr val="dk1"/>
                </a:solidFill>
                <a:latin typeface="Red Hat Display Medium"/>
                <a:ea typeface="Red Hat Display Medium"/>
                <a:cs typeface="Red Hat Display Medium"/>
                <a:sym typeface="Red Hat Display Medium"/>
              </a:rPr>
              <a:t>.</a:t>
            </a:r>
            <a:endParaRPr b="0" i="0" sz="1300" u="none" cap="none" strike="noStrike">
              <a:solidFill>
                <a:schemeClr val="dk1"/>
              </a:solidFill>
              <a:latin typeface="Red Hat Display Medium"/>
              <a:ea typeface="Red Hat Display Medium"/>
              <a:cs typeface="Red Hat Display Medium"/>
              <a:sym typeface="Red Hat Display Medium"/>
            </a:endParaRPr>
          </a:p>
        </p:txBody>
      </p:sp>
      <p:sp>
        <p:nvSpPr>
          <p:cNvPr id="158" name="Google Shape;158;p4"/>
          <p:cNvSpPr txBox="1"/>
          <p:nvPr/>
        </p:nvSpPr>
        <p:spPr>
          <a:xfrm>
            <a:off x="709942"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CHAPTER 01</a:t>
            </a:r>
            <a:endParaRPr b="1" i="0" sz="1000" u="none" cap="none" strike="noStrike">
              <a:solidFill>
                <a:schemeClr val="dk1"/>
              </a:solidFill>
              <a:latin typeface="Red Hat Display"/>
              <a:ea typeface="Red Hat Display"/>
              <a:cs typeface="Red Hat Display"/>
              <a:sym typeface="Red Hat Displ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cxnSp>
        <p:nvCxnSpPr>
          <p:cNvPr id="163" name="Google Shape;163;p5"/>
          <p:cNvCxnSpPr/>
          <p:nvPr/>
        </p:nvCxnSpPr>
        <p:spPr>
          <a:xfrm rot="10800000">
            <a:off x="362400" y="570989"/>
            <a:ext cx="8419200" cy="0"/>
          </a:xfrm>
          <a:prstGeom prst="straightConnector1">
            <a:avLst/>
          </a:prstGeom>
          <a:noFill/>
          <a:ln cap="flat" cmpd="sng" w="9525">
            <a:solidFill>
              <a:schemeClr val="dk1"/>
            </a:solidFill>
            <a:prstDash val="solid"/>
            <a:round/>
            <a:headEnd len="sm" w="sm" type="none"/>
            <a:tailEnd len="sm" w="sm" type="none"/>
          </a:ln>
        </p:spPr>
      </p:cxnSp>
      <p:sp>
        <p:nvSpPr>
          <p:cNvPr id="164" name="Google Shape;164;p5"/>
          <p:cNvSpPr txBox="1"/>
          <p:nvPr/>
        </p:nvSpPr>
        <p:spPr>
          <a:xfrm>
            <a:off x="3693367"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cs" sz="1000" u="none" cap="none" strike="noStrike">
                <a:solidFill>
                  <a:schemeClr val="dk1"/>
                </a:solidFill>
                <a:latin typeface="Red Hat Display"/>
                <a:ea typeface="Red Hat Display"/>
                <a:cs typeface="Red Hat Display"/>
                <a:sym typeface="Red Hat Display"/>
              </a:rPr>
              <a:t>FIRST STEP</a:t>
            </a:r>
            <a:endParaRPr b="1" i="0" sz="1000" u="none" cap="none" strike="noStrike">
              <a:solidFill>
                <a:schemeClr val="dk1"/>
              </a:solidFill>
              <a:latin typeface="Red Hat Display"/>
              <a:ea typeface="Red Hat Display"/>
              <a:cs typeface="Red Hat Display"/>
              <a:sym typeface="Red Hat Display"/>
            </a:endParaRPr>
          </a:p>
        </p:txBody>
      </p:sp>
      <p:pic>
        <p:nvPicPr>
          <p:cNvPr id="165" name="Google Shape;165;p5"/>
          <p:cNvPicPr preferRelativeResize="0"/>
          <p:nvPr/>
        </p:nvPicPr>
        <p:blipFill rotWithShape="1">
          <a:blip r:embed="rId4">
            <a:alphaModFix/>
          </a:blip>
          <a:srcRect b="0" l="0" r="0" t="0"/>
          <a:stretch/>
        </p:blipFill>
        <p:spPr>
          <a:xfrm>
            <a:off x="8113444" y="223090"/>
            <a:ext cx="217755" cy="178664"/>
          </a:xfrm>
          <a:prstGeom prst="rect">
            <a:avLst/>
          </a:prstGeom>
          <a:noFill/>
          <a:ln>
            <a:noFill/>
          </a:ln>
        </p:spPr>
      </p:pic>
      <p:sp>
        <p:nvSpPr>
          <p:cNvPr id="166" name="Google Shape;166;p5"/>
          <p:cNvSpPr txBox="1"/>
          <p:nvPr/>
        </p:nvSpPr>
        <p:spPr>
          <a:xfrm>
            <a:off x="677175" y="1227425"/>
            <a:ext cx="3402300" cy="24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cs" sz="3800" u="none" cap="none" strike="noStrike">
                <a:solidFill>
                  <a:schemeClr val="dk1"/>
                </a:solidFill>
                <a:latin typeface="Red Hat Display Black"/>
                <a:ea typeface="Red Hat Display Black"/>
                <a:cs typeface="Red Hat Display Black"/>
                <a:sym typeface="Red Hat Display Black"/>
              </a:rPr>
              <a:t>Start with</a:t>
            </a:r>
            <a:endParaRPr b="1" i="0" sz="3800" u="none" cap="none" strike="noStrike">
              <a:solidFill>
                <a:schemeClr val="dk1"/>
              </a:solidFill>
              <a:latin typeface="Young Serif"/>
              <a:ea typeface="Young Serif"/>
              <a:cs typeface="Young Serif"/>
              <a:sym typeface="Young Serif"/>
            </a:endParaRPr>
          </a:p>
          <a:p>
            <a:pPr indent="0" lvl="0" marL="0" marR="0" rtl="0" algn="l">
              <a:lnSpc>
                <a:spcPct val="100000"/>
              </a:lnSpc>
              <a:spcBef>
                <a:spcPts val="0"/>
              </a:spcBef>
              <a:spcAft>
                <a:spcPts val="0"/>
              </a:spcAft>
              <a:buClr>
                <a:srgbClr val="000000"/>
              </a:buClr>
              <a:buSzPts val="3800"/>
              <a:buFont typeface="Arial"/>
              <a:buNone/>
            </a:pPr>
            <a:r>
              <a:rPr b="1" i="0" lang="cs" sz="3800" u="none" cap="none" strike="noStrike">
                <a:solidFill>
                  <a:schemeClr val="dk1"/>
                </a:solidFill>
                <a:latin typeface="Young Serif"/>
                <a:ea typeface="Young Serif"/>
                <a:cs typeface="Young Serif"/>
                <a:sym typeface="Young Serif"/>
              </a:rPr>
              <a:t>discovery.</a:t>
            </a:r>
            <a:endParaRPr b="1" i="0" sz="3800" u="none" cap="none" strike="noStrike">
              <a:solidFill>
                <a:schemeClr val="dk1"/>
              </a:solidFill>
              <a:latin typeface="Young Serif"/>
              <a:ea typeface="Young Serif"/>
              <a:cs typeface="Young Serif"/>
              <a:sym typeface="Young Serif"/>
            </a:endParaRPr>
          </a:p>
        </p:txBody>
      </p:sp>
      <p:sp>
        <p:nvSpPr>
          <p:cNvPr id="167" name="Google Shape;167;p5"/>
          <p:cNvSpPr txBox="1"/>
          <p:nvPr/>
        </p:nvSpPr>
        <p:spPr>
          <a:xfrm>
            <a:off x="4079400" y="1227425"/>
            <a:ext cx="3908700" cy="3315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Before we recommend a strategy, we need to understand your business model, your clients, your competition, and your ambitions in detail.</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1200"/>
              </a:spcBef>
              <a:spcAft>
                <a:spcPts val="0"/>
              </a:spcAft>
              <a:buClr>
                <a:schemeClr val="dk1"/>
              </a:buClr>
              <a:buSzPts val="11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That’s why we propose starting with a </a:t>
            </a:r>
            <a:r>
              <a:rPr b="0" i="0" lang="cs" sz="1300" u="none" cap="none" strike="noStrike">
                <a:solidFill>
                  <a:schemeClr val="dk1"/>
                </a:solidFill>
                <a:highlight>
                  <a:srgbClr val="33B6FF"/>
                </a:highlight>
                <a:latin typeface="Red Hat Display Medium"/>
                <a:ea typeface="Red Hat Display Medium"/>
                <a:cs typeface="Red Hat Display Medium"/>
                <a:sym typeface="Red Hat Display Medium"/>
              </a:rPr>
              <a:t>Discovery Workshop</a:t>
            </a:r>
            <a:r>
              <a:rPr b="0" i="0" lang="cs" sz="1300" u="none" cap="none" strike="noStrike">
                <a:solidFill>
                  <a:schemeClr val="dk1"/>
                </a:solidFill>
                <a:latin typeface="Red Hat Display Medium"/>
                <a:ea typeface="Red Hat Display Medium"/>
                <a:cs typeface="Red Hat Display Medium"/>
                <a:sym typeface="Red Hat Display Medium"/>
              </a:rPr>
              <a:t> — a structured process designed to get us aligned before any commitments.</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1200"/>
              </a:spcBef>
              <a:spcAft>
                <a:spcPts val="700"/>
              </a:spcAft>
              <a:buClr>
                <a:srgbClr val="000000"/>
              </a:buClr>
              <a:buSzPts val="13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No long-term contracts. No assumptions. Just a solid foundation for everything that follows.</a:t>
            </a:r>
            <a:endParaRPr b="0" i="0" sz="1300" u="none" cap="none" strike="noStrike">
              <a:solidFill>
                <a:schemeClr val="dk1"/>
              </a:solidFill>
              <a:latin typeface="Red Hat Display Medium"/>
              <a:ea typeface="Red Hat Display Medium"/>
              <a:cs typeface="Red Hat Display Medium"/>
              <a:sym typeface="Red Hat Display Medium"/>
            </a:endParaRPr>
          </a:p>
        </p:txBody>
      </p:sp>
      <p:sp>
        <p:nvSpPr>
          <p:cNvPr id="168" name="Google Shape;168;p5"/>
          <p:cNvSpPr txBox="1"/>
          <p:nvPr/>
        </p:nvSpPr>
        <p:spPr>
          <a:xfrm>
            <a:off x="709942"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CHAPTER 01</a:t>
            </a:r>
            <a:endParaRPr b="1" i="0" sz="1000" u="none" cap="none" strike="noStrike">
              <a:solidFill>
                <a:schemeClr val="dk1"/>
              </a:solidFill>
              <a:latin typeface="Red Hat Display"/>
              <a:ea typeface="Red Hat Display"/>
              <a:cs typeface="Red Hat Display"/>
              <a:sym typeface="Red Hat Displ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cxnSp>
        <p:nvCxnSpPr>
          <p:cNvPr id="173" name="Google Shape;173;p6"/>
          <p:cNvCxnSpPr/>
          <p:nvPr/>
        </p:nvCxnSpPr>
        <p:spPr>
          <a:xfrm rot="10800000">
            <a:off x="362400" y="570989"/>
            <a:ext cx="8419200" cy="0"/>
          </a:xfrm>
          <a:prstGeom prst="straightConnector1">
            <a:avLst/>
          </a:prstGeom>
          <a:noFill/>
          <a:ln cap="flat" cmpd="sng" w="9525">
            <a:solidFill>
              <a:schemeClr val="dk1"/>
            </a:solidFill>
            <a:prstDash val="solid"/>
            <a:round/>
            <a:headEnd len="sm" w="sm" type="none"/>
            <a:tailEnd len="sm" w="sm" type="none"/>
          </a:ln>
        </p:spPr>
      </p:cxnSp>
      <p:pic>
        <p:nvPicPr>
          <p:cNvPr id="174" name="Google Shape;174;p6"/>
          <p:cNvPicPr preferRelativeResize="0"/>
          <p:nvPr/>
        </p:nvPicPr>
        <p:blipFill rotWithShape="1">
          <a:blip r:embed="rId4">
            <a:alphaModFix/>
          </a:blip>
          <a:srcRect b="0" l="0" r="0" t="0"/>
          <a:stretch/>
        </p:blipFill>
        <p:spPr>
          <a:xfrm>
            <a:off x="8113444" y="223090"/>
            <a:ext cx="217755" cy="178664"/>
          </a:xfrm>
          <a:prstGeom prst="rect">
            <a:avLst/>
          </a:prstGeom>
          <a:noFill/>
          <a:ln>
            <a:noFill/>
          </a:ln>
        </p:spPr>
      </p:pic>
      <p:sp>
        <p:nvSpPr>
          <p:cNvPr id="175" name="Google Shape;175;p6"/>
          <p:cNvSpPr txBox="1"/>
          <p:nvPr/>
        </p:nvSpPr>
        <p:spPr>
          <a:xfrm>
            <a:off x="677175" y="1227425"/>
            <a:ext cx="2935800" cy="123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cs" sz="2000" u="none" cap="none" strike="noStrike">
                <a:solidFill>
                  <a:schemeClr val="dk1"/>
                </a:solidFill>
                <a:latin typeface="Red Hat Display Black"/>
                <a:ea typeface="Red Hat Display Black"/>
                <a:cs typeface="Red Hat Display Black"/>
                <a:sym typeface="Red Hat Display Black"/>
              </a:rPr>
              <a:t>Discovery workshop</a:t>
            </a:r>
            <a:endParaRPr b="0" i="0" sz="2000" u="none" cap="none" strike="noStrike">
              <a:solidFill>
                <a:schemeClr val="dk1"/>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Clr>
                <a:srgbClr val="000000"/>
              </a:buClr>
              <a:buSzPts val="2000"/>
              <a:buFont typeface="Arial"/>
              <a:buNone/>
            </a:pPr>
            <a:r>
              <a:rPr b="1" i="0" lang="cs" sz="2000" u="none" cap="none" strike="noStrike">
                <a:solidFill>
                  <a:schemeClr val="dk1"/>
                </a:solidFill>
                <a:latin typeface="Young Serif"/>
                <a:ea typeface="Young Serif"/>
                <a:cs typeface="Young Serif"/>
                <a:sym typeface="Young Serif"/>
              </a:rPr>
              <a:t>with Pavel Cahlík</a:t>
            </a:r>
            <a:endParaRPr b="1" i="0" sz="2000" u="none" cap="none" strike="noStrike">
              <a:solidFill>
                <a:schemeClr val="dk1"/>
              </a:solidFill>
              <a:latin typeface="Young Serif"/>
              <a:ea typeface="Young Serif"/>
              <a:cs typeface="Young Serif"/>
              <a:sym typeface="Young Serif"/>
            </a:endParaRPr>
          </a:p>
        </p:txBody>
      </p:sp>
      <p:sp>
        <p:nvSpPr>
          <p:cNvPr id="176" name="Google Shape;176;p6"/>
          <p:cNvSpPr txBox="1"/>
          <p:nvPr/>
        </p:nvSpPr>
        <p:spPr>
          <a:xfrm>
            <a:off x="4086250" y="2461925"/>
            <a:ext cx="4856700" cy="2447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0" i="0" lang="cs" sz="1300" u="none" cap="none" strike="noStrike">
                <a:solidFill>
                  <a:schemeClr val="dk1"/>
                </a:solidFill>
                <a:highlight>
                  <a:srgbClr val="57DC64"/>
                </a:highlight>
                <a:latin typeface="Red Hat Display Medium"/>
                <a:ea typeface="Red Hat Display Medium"/>
                <a:cs typeface="Red Hat Display Medium"/>
                <a:sym typeface="Red Hat Display Medium"/>
              </a:rPr>
              <a:t>What you get:</a:t>
            </a:r>
            <a:endParaRPr b="0" i="0" sz="1300" u="none" cap="none" strike="noStrike">
              <a:solidFill>
                <a:schemeClr val="dk1"/>
              </a:solidFill>
              <a:highlight>
                <a:srgbClr val="57DC64"/>
              </a:highlight>
              <a:latin typeface="Red Hat Display Medium"/>
              <a:ea typeface="Red Hat Display Medium"/>
              <a:cs typeface="Red Hat Display Medium"/>
              <a:sym typeface="Red Hat Display Medium"/>
            </a:endParaRPr>
          </a:p>
          <a:p>
            <a:pPr indent="-298450" lvl="0" marL="457200" marR="0" rtl="0" algn="l">
              <a:lnSpc>
                <a:spcPct val="115000"/>
              </a:lnSpc>
              <a:spcBef>
                <a:spcPts val="1200"/>
              </a:spcBef>
              <a:spcAft>
                <a:spcPts val="0"/>
              </a:spcAft>
              <a:buClr>
                <a:schemeClr val="dk1"/>
              </a:buClr>
              <a:buSzPts val="1100"/>
              <a:buFont typeface="Arial"/>
              <a:buChar char="●"/>
            </a:pPr>
            <a:r>
              <a:rPr b="0" i="0" lang="cs" sz="1100" u="none" cap="none" strike="noStrike">
                <a:solidFill>
                  <a:schemeClr val="dk1"/>
                </a:solidFill>
                <a:latin typeface="Red Hat Display Medium"/>
                <a:ea typeface="Red Hat Display Medium"/>
                <a:cs typeface="Red Hat Display Medium"/>
                <a:sym typeface="Red Hat Display Medium"/>
              </a:rPr>
              <a:t>Digital &amp; brand audit of your current presence</a:t>
            </a:r>
            <a:endParaRPr b="0" i="0" sz="1100" u="none" cap="none" strike="noStrike">
              <a:solidFill>
                <a:schemeClr val="dk1"/>
              </a:solidFill>
              <a:latin typeface="Red Hat Display Medium"/>
              <a:ea typeface="Red Hat Display Medium"/>
              <a:cs typeface="Red Hat Display Medium"/>
              <a:sym typeface="Red Hat Display Medium"/>
            </a:endParaRPr>
          </a:p>
          <a:p>
            <a:pPr indent="-298450" lvl="0" marL="457200" marR="0" rtl="0" algn="l">
              <a:lnSpc>
                <a:spcPct val="115000"/>
              </a:lnSpc>
              <a:spcBef>
                <a:spcPts val="0"/>
              </a:spcBef>
              <a:spcAft>
                <a:spcPts val="0"/>
              </a:spcAft>
              <a:buClr>
                <a:schemeClr val="dk1"/>
              </a:buClr>
              <a:buSzPts val="1100"/>
              <a:buFont typeface="Red Hat Display Medium"/>
              <a:buChar char="●"/>
            </a:pPr>
            <a:r>
              <a:rPr b="0" i="0" lang="cs" sz="1100" u="none" cap="none" strike="noStrike">
                <a:solidFill>
                  <a:schemeClr val="dk1"/>
                </a:solidFill>
                <a:latin typeface="Red Hat Display Medium"/>
                <a:ea typeface="Red Hat Display Medium"/>
                <a:cs typeface="Red Hat Display Medium"/>
                <a:sym typeface="Red Hat Display Medium"/>
              </a:rPr>
              <a:t>Strategic brief with positioning recommendations</a:t>
            </a:r>
            <a:endParaRPr b="0" i="0" sz="1100" u="none" cap="none" strike="noStrike">
              <a:solidFill>
                <a:schemeClr val="dk1"/>
              </a:solidFill>
              <a:latin typeface="Red Hat Display Medium"/>
              <a:ea typeface="Red Hat Display Medium"/>
              <a:cs typeface="Red Hat Display Medium"/>
              <a:sym typeface="Red Hat Display Medium"/>
            </a:endParaRPr>
          </a:p>
          <a:p>
            <a:pPr indent="-298450" lvl="0" marL="457200" marR="0" rtl="0" algn="l">
              <a:lnSpc>
                <a:spcPct val="115000"/>
              </a:lnSpc>
              <a:spcBef>
                <a:spcPts val="0"/>
              </a:spcBef>
              <a:spcAft>
                <a:spcPts val="0"/>
              </a:spcAft>
              <a:buClr>
                <a:schemeClr val="dk1"/>
              </a:buClr>
              <a:buSzPts val="1100"/>
              <a:buFont typeface="Arial"/>
              <a:buChar char="●"/>
            </a:pPr>
            <a:r>
              <a:rPr b="0" i="0" lang="cs" sz="1100" u="none" cap="none" strike="noStrike">
                <a:solidFill>
                  <a:schemeClr val="dk1"/>
                </a:solidFill>
                <a:latin typeface="Red Hat Display Medium"/>
                <a:ea typeface="Red Hat Display Medium"/>
                <a:cs typeface="Red Hat Display Medium"/>
                <a:sym typeface="Red Hat Display Medium"/>
              </a:rPr>
              <a:t>Communication roadmap with priorities and timeline</a:t>
            </a:r>
            <a:endParaRPr b="0" i="0" sz="1100" u="none" cap="none" strike="noStrike">
              <a:solidFill>
                <a:schemeClr val="dk1"/>
              </a:solidFill>
              <a:latin typeface="Red Hat Display Medium"/>
              <a:ea typeface="Red Hat Display Medium"/>
              <a:cs typeface="Red Hat Display Medium"/>
              <a:sym typeface="Red Hat Display Medium"/>
            </a:endParaRPr>
          </a:p>
          <a:p>
            <a:pPr indent="-298450" lvl="0" marL="457200" marR="0" rtl="0" algn="l">
              <a:lnSpc>
                <a:spcPct val="115000"/>
              </a:lnSpc>
              <a:spcBef>
                <a:spcPts val="0"/>
              </a:spcBef>
              <a:spcAft>
                <a:spcPts val="0"/>
              </a:spcAft>
              <a:buClr>
                <a:schemeClr val="dk1"/>
              </a:buClr>
              <a:buSzPts val="1100"/>
              <a:buFont typeface="Arial"/>
              <a:buChar char="●"/>
            </a:pPr>
            <a:r>
              <a:rPr b="0" i="0" lang="cs" sz="1100" u="none" cap="none" strike="noStrike">
                <a:solidFill>
                  <a:schemeClr val="dk1"/>
                </a:solidFill>
                <a:latin typeface="Red Hat Display Medium"/>
                <a:ea typeface="Red Hat Display Medium"/>
                <a:cs typeface="Red Hat Display Medium"/>
                <a:sym typeface="Red Hat Display Medium"/>
              </a:rPr>
              <a:t>Clear next steps — no obligations</a:t>
            </a:r>
            <a:endParaRPr b="0" i="0" sz="1100" u="none" cap="none" strike="noStrike">
              <a:solidFill>
                <a:schemeClr val="dk1"/>
              </a:solidFill>
              <a:latin typeface="Red Hat Display Medium"/>
              <a:ea typeface="Red Hat Display Medium"/>
              <a:cs typeface="Red Hat Display Medium"/>
              <a:sym typeface="Red Hat Display Medium"/>
            </a:endParaRPr>
          </a:p>
        </p:txBody>
      </p:sp>
      <p:sp>
        <p:nvSpPr>
          <p:cNvPr id="177" name="Google Shape;177;p6"/>
          <p:cNvSpPr/>
          <p:nvPr/>
        </p:nvSpPr>
        <p:spPr>
          <a:xfrm>
            <a:off x="677325" y="2592775"/>
            <a:ext cx="2935800" cy="1782300"/>
          </a:xfrm>
          <a:prstGeom prst="roundRect">
            <a:avLst>
              <a:gd fmla="val 16667" name="adj"/>
            </a:avLst>
          </a:prstGeom>
          <a:solidFill>
            <a:srgbClr val="E9E9E9"/>
          </a:solidFill>
          <a:ln cap="flat" cmpd="sng" w="9525">
            <a:solidFill>
              <a:srgbClr val="595959"/>
            </a:solidFill>
            <a:prstDash val="solid"/>
            <a:round/>
            <a:headEnd len="sm" w="sm" type="none"/>
            <a:tailEnd len="sm" w="sm" type="none"/>
          </a:ln>
        </p:spPr>
        <p:txBody>
          <a:bodyPr anchorCtr="0" anchor="ctr" bIns="91425" lIns="90000"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cs" sz="1200" u="none" cap="none" strike="noStrike">
                <a:solidFill>
                  <a:srgbClr val="000000"/>
                </a:solidFill>
                <a:latin typeface="Red Hat Display"/>
                <a:ea typeface="Red Hat Display"/>
                <a:cs typeface="Red Hat Display"/>
                <a:sym typeface="Red Hat Display"/>
              </a:rPr>
              <a:t>Why:</a:t>
            </a:r>
            <a:endParaRPr b="1" i="0" sz="1200" u="none" cap="none" strike="noStrike">
              <a:solidFill>
                <a:srgbClr val="000000"/>
              </a:solidFill>
              <a:latin typeface="Red Hat Display"/>
              <a:ea typeface="Red Hat Display"/>
              <a:cs typeface="Red Hat Display"/>
              <a:sym typeface="Red Hat Display"/>
            </a:endParaRPr>
          </a:p>
          <a:p>
            <a:pPr indent="0" lvl="0" marL="0" marR="0" rtl="0" algn="l">
              <a:lnSpc>
                <a:spcPct val="115000"/>
              </a:lnSpc>
              <a:spcBef>
                <a:spcPts val="700"/>
              </a:spcBef>
              <a:spcAft>
                <a:spcPts val="700"/>
              </a:spcAft>
              <a:buClr>
                <a:srgbClr val="000000"/>
              </a:buClr>
              <a:buSzPts val="1200"/>
              <a:buFont typeface="Arial"/>
              <a:buNone/>
            </a:pPr>
            <a:r>
              <a:rPr b="0" i="0" lang="cs" sz="1200" u="none" cap="none" strike="noStrike">
                <a:solidFill>
                  <a:srgbClr val="000000"/>
                </a:solidFill>
                <a:latin typeface="Red Hat Display Medium"/>
                <a:ea typeface="Red Hat Display Medium"/>
                <a:cs typeface="Red Hat Display Medium"/>
                <a:sym typeface="Red Hat Display Medium"/>
              </a:rPr>
              <a:t>Every successful brand strategy starts with understanding. The Discovery Workshop ensures we build on facts, not assumptions — and that every recommendation is tailored to your reality.</a:t>
            </a:r>
            <a:endParaRPr b="0" i="0" sz="1200" u="none" cap="none" strike="noStrike">
              <a:solidFill>
                <a:srgbClr val="000000"/>
              </a:solidFill>
              <a:latin typeface="Red Hat Display Medium"/>
              <a:ea typeface="Red Hat Display Medium"/>
              <a:cs typeface="Red Hat Display Medium"/>
              <a:sym typeface="Red Hat Display Medium"/>
            </a:endParaRPr>
          </a:p>
        </p:txBody>
      </p:sp>
      <p:sp>
        <p:nvSpPr>
          <p:cNvPr id="178" name="Google Shape;178;p6"/>
          <p:cNvSpPr txBox="1"/>
          <p:nvPr/>
        </p:nvSpPr>
        <p:spPr>
          <a:xfrm>
            <a:off x="4086250" y="1227425"/>
            <a:ext cx="4702200" cy="123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0" i="0" lang="cs" sz="1300" u="none" cap="none" strike="noStrike">
                <a:solidFill>
                  <a:schemeClr val="dk1"/>
                </a:solidFill>
                <a:highlight>
                  <a:srgbClr val="57DC64"/>
                </a:highlight>
                <a:latin typeface="Red Hat Display Medium"/>
                <a:ea typeface="Red Hat Display Medium"/>
                <a:cs typeface="Red Hat Display Medium"/>
                <a:sym typeface="Red Hat Display Medium"/>
              </a:rPr>
              <a:t>What to expect:</a:t>
            </a:r>
            <a:endParaRPr b="0" i="0" sz="1300" u="none" cap="none" strike="noStrike">
              <a:solidFill>
                <a:schemeClr val="dk1"/>
              </a:solidFill>
              <a:highlight>
                <a:srgbClr val="57DC64"/>
              </a:highlight>
              <a:latin typeface="Red Hat Display Medium"/>
              <a:ea typeface="Red Hat Display Medium"/>
              <a:cs typeface="Red Hat Display Medium"/>
              <a:sym typeface="Red Hat Display Medium"/>
            </a:endParaRPr>
          </a:p>
          <a:p>
            <a:pPr indent="0" lvl="0" marL="0" marR="0" rtl="0" algn="l">
              <a:lnSpc>
                <a:spcPct val="115000"/>
              </a:lnSpc>
              <a:spcBef>
                <a:spcPts val="700"/>
              </a:spcBef>
              <a:spcAft>
                <a:spcPts val="0"/>
              </a:spcAft>
              <a:buClr>
                <a:schemeClr val="dk1"/>
              </a:buClr>
              <a:buSzPts val="1100"/>
              <a:buFont typeface="Arial"/>
              <a:buNone/>
            </a:pPr>
            <a:r>
              <a:rPr b="0" i="0" lang="cs" sz="1100" u="none" cap="none" strike="noStrike">
                <a:solidFill>
                  <a:schemeClr val="dk1"/>
                </a:solidFill>
                <a:latin typeface="Red Hat Display Medium"/>
                <a:ea typeface="Red Hat Display Medium"/>
                <a:cs typeface="Red Hat Display Medium"/>
                <a:sym typeface="Red Hat Display Medium"/>
              </a:rPr>
              <a:t>A half-day structured session with your leadership team. We’ll map your business model, define your target audiences, audit your competitive landscape, and align on brand ambitions. Led by Pavel Cahlík, our Strategy Consultant.</a:t>
            </a:r>
            <a:endParaRPr b="0" i="0" sz="11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700"/>
              </a:spcBef>
              <a:spcAft>
                <a:spcPts val="700"/>
              </a:spcAft>
              <a:buClr>
                <a:srgbClr val="000000"/>
              </a:buClr>
              <a:buSzPts val="1300"/>
              <a:buFont typeface="Arial"/>
              <a:buNone/>
            </a:pPr>
            <a:r>
              <a:t/>
            </a:r>
            <a:endParaRPr b="0" i="0" sz="1300" u="none" cap="none" strike="noStrike">
              <a:solidFill>
                <a:schemeClr val="dk1"/>
              </a:solidFill>
              <a:latin typeface="Red Hat Display Medium"/>
              <a:ea typeface="Red Hat Display Medium"/>
              <a:cs typeface="Red Hat Display Medium"/>
              <a:sym typeface="Red Hat Display Medium"/>
            </a:endParaRPr>
          </a:p>
        </p:txBody>
      </p:sp>
      <p:sp>
        <p:nvSpPr>
          <p:cNvPr id="179" name="Google Shape;179;p6"/>
          <p:cNvSpPr txBox="1"/>
          <p:nvPr/>
        </p:nvSpPr>
        <p:spPr>
          <a:xfrm>
            <a:off x="2791882" y="195725"/>
            <a:ext cx="31737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DISCOVERY WORKSHOP</a:t>
            </a:r>
            <a:endParaRPr b="1" i="0" sz="1000" u="none" cap="none" strike="noStrike">
              <a:solidFill>
                <a:schemeClr val="dk1"/>
              </a:solidFill>
              <a:latin typeface="Red Hat Display"/>
              <a:ea typeface="Red Hat Display"/>
              <a:cs typeface="Red Hat Display"/>
              <a:sym typeface="Red Hat Display"/>
            </a:endParaRPr>
          </a:p>
        </p:txBody>
      </p:sp>
      <p:sp>
        <p:nvSpPr>
          <p:cNvPr id="180" name="Google Shape;180;p6"/>
          <p:cNvSpPr txBox="1"/>
          <p:nvPr/>
        </p:nvSpPr>
        <p:spPr>
          <a:xfrm>
            <a:off x="709942"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CHAPTER 01</a:t>
            </a:r>
            <a:endParaRPr b="1" i="0" sz="1000" u="none" cap="none" strike="noStrike">
              <a:solidFill>
                <a:schemeClr val="dk1"/>
              </a:solidFill>
              <a:latin typeface="Red Hat Display"/>
              <a:ea typeface="Red Hat Display"/>
              <a:cs typeface="Red Hat Display"/>
              <a:sym typeface="Red Hat Displ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 name="Shape 184"/>
        <p:cNvGrpSpPr/>
        <p:nvPr/>
      </p:nvGrpSpPr>
      <p:grpSpPr>
        <a:xfrm>
          <a:off x="0" y="0"/>
          <a:ext cx="0" cy="0"/>
          <a:chOff x="0" y="0"/>
          <a:chExt cx="0" cy="0"/>
        </a:xfrm>
      </p:grpSpPr>
      <p:cxnSp>
        <p:nvCxnSpPr>
          <p:cNvPr id="185" name="Google Shape;185;p7"/>
          <p:cNvCxnSpPr/>
          <p:nvPr/>
        </p:nvCxnSpPr>
        <p:spPr>
          <a:xfrm rot="10800000">
            <a:off x="362400" y="570989"/>
            <a:ext cx="8419200" cy="0"/>
          </a:xfrm>
          <a:prstGeom prst="straightConnector1">
            <a:avLst/>
          </a:prstGeom>
          <a:noFill/>
          <a:ln cap="flat" cmpd="sng" w="9525">
            <a:solidFill>
              <a:schemeClr val="dk1"/>
            </a:solidFill>
            <a:prstDash val="solid"/>
            <a:round/>
            <a:headEnd len="sm" w="sm" type="none"/>
            <a:tailEnd len="sm" w="sm" type="none"/>
          </a:ln>
        </p:spPr>
      </p:cxnSp>
      <p:pic>
        <p:nvPicPr>
          <p:cNvPr id="186" name="Google Shape;186;p7"/>
          <p:cNvPicPr preferRelativeResize="0"/>
          <p:nvPr/>
        </p:nvPicPr>
        <p:blipFill rotWithShape="1">
          <a:blip r:embed="rId4">
            <a:alphaModFix/>
          </a:blip>
          <a:srcRect b="0" l="0" r="0" t="0"/>
          <a:stretch/>
        </p:blipFill>
        <p:spPr>
          <a:xfrm>
            <a:off x="8113444" y="223090"/>
            <a:ext cx="217755" cy="178664"/>
          </a:xfrm>
          <a:prstGeom prst="rect">
            <a:avLst/>
          </a:prstGeom>
          <a:noFill/>
          <a:ln>
            <a:noFill/>
          </a:ln>
        </p:spPr>
      </p:pic>
      <p:sp>
        <p:nvSpPr>
          <p:cNvPr id="187" name="Google Shape;187;p7"/>
          <p:cNvSpPr txBox="1"/>
          <p:nvPr/>
        </p:nvSpPr>
        <p:spPr>
          <a:xfrm>
            <a:off x="677175" y="1227425"/>
            <a:ext cx="2935800" cy="123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cs" sz="2000" u="none" cap="none" strike="noStrike">
                <a:solidFill>
                  <a:schemeClr val="dk1"/>
                </a:solidFill>
                <a:latin typeface="Red Hat Display Black"/>
                <a:ea typeface="Red Hat Display Black"/>
                <a:cs typeface="Red Hat Display Black"/>
                <a:sym typeface="Red Hat Display Black"/>
              </a:rPr>
              <a:t>What you'll</a:t>
            </a:r>
            <a:endParaRPr b="0" i="0" sz="2000" u="none" cap="none" strike="noStrike">
              <a:solidFill>
                <a:schemeClr val="dk1"/>
              </a:solidFill>
              <a:latin typeface="Red Hat Display Black"/>
              <a:ea typeface="Red Hat Display Black"/>
              <a:cs typeface="Red Hat Display Black"/>
              <a:sym typeface="Red Hat Display Black"/>
            </a:endParaRPr>
          </a:p>
          <a:p>
            <a:pPr indent="0" lvl="0" marL="0" marR="0" rtl="0" algn="l">
              <a:lnSpc>
                <a:spcPct val="100000"/>
              </a:lnSpc>
              <a:spcBef>
                <a:spcPts val="0"/>
              </a:spcBef>
              <a:spcAft>
                <a:spcPts val="0"/>
              </a:spcAft>
              <a:buClr>
                <a:srgbClr val="000000"/>
              </a:buClr>
              <a:buSzPts val="2000"/>
              <a:buFont typeface="Arial"/>
              <a:buNone/>
            </a:pPr>
            <a:r>
              <a:rPr b="1" i="0" lang="cs" sz="2000" u="none" cap="none" strike="noStrike">
                <a:solidFill>
                  <a:schemeClr val="dk1"/>
                </a:solidFill>
                <a:latin typeface="Young Serif"/>
                <a:ea typeface="Young Serif"/>
                <a:cs typeface="Young Serif"/>
                <a:sym typeface="Young Serif"/>
              </a:rPr>
              <a:t>walk away with.</a:t>
            </a:r>
            <a:endParaRPr b="1" i="0" sz="2000" u="none" cap="none" strike="noStrike">
              <a:solidFill>
                <a:schemeClr val="dk1"/>
              </a:solidFill>
              <a:latin typeface="Young Serif"/>
              <a:ea typeface="Young Serif"/>
              <a:cs typeface="Young Serif"/>
              <a:sym typeface="Young Serif"/>
            </a:endParaRPr>
          </a:p>
        </p:txBody>
      </p:sp>
      <p:sp>
        <p:nvSpPr>
          <p:cNvPr id="188" name="Google Shape;188;p7"/>
          <p:cNvSpPr txBox="1"/>
          <p:nvPr/>
        </p:nvSpPr>
        <p:spPr>
          <a:xfrm>
            <a:off x="4079400" y="2461925"/>
            <a:ext cx="4856700" cy="2447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0" i="0" lang="cs" sz="1300" u="none" cap="none" strike="noStrike">
                <a:solidFill>
                  <a:schemeClr val="dk1"/>
                </a:solidFill>
                <a:highlight>
                  <a:srgbClr val="57DC64"/>
                </a:highlight>
                <a:latin typeface="Red Hat Display Medium"/>
                <a:ea typeface="Red Hat Display Medium"/>
                <a:cs typeface="Red Hat Display Medium"/>
                <a:sym typeface="Red Hat Display Medium"/>
              </a:rPr>
              <a:t>What you get:</a:t>
            </a:r>
            <a:endParaRPr b="0" i="0" sz="1300" u="none" cap="none" strike="noStrike">
              <a:solidFill>
                <a:schemeClr val="dk1"/>
              </a:solidFill>
              <a:highlight>
                <a:srgbClr val="57DC64"/>
              </a:highlight>
              <a:latin typeface="Red Hat Display Medium"/>
              <a:ea typeface="Red Hat Display Medium"/>
              <a:cs typeface="Red Hat Display Medium"/>
              <a:sym typeface="Red Hat Display Medium"/>
            </a:endParaRPr>
          </a:p>
          <a:p>
            <a:pPr indent="-298450" lvl="0" marL="457200" marR="0" rtl="0" algn="l">
              <a:lnSpc>
                <a:spcPct val="115000"/>
              </a:lnSpc>
              <a:spcBef>
                <a:spcPts val="1200"/>
              </a:spcBef>
              <a:spcAft>
                <a:spcPts val="0"/>
              </a:spcAft>
              <a:buClr>
                <a:schemeClr val="dk1"/>
              </a:buClr>
              <a:buSzPts val="1100"/>
              <a:buFont typeface="Arial"/>
              <a:buChar char="●"/>
            </a:pPr>
            <a:r>
              <a:rPr b="0" i="0" lang="cs" sz="1100" u="none" cap="none" strike="noStrike">
                <a:solidFill>
                  <a:schemeClr val="dk1"/>
                </a:solidFill>
                <a:latin typeface="Red Hat Display Medium"/>
                <a:ea typeface="Red Hat Display Medium"/>
                <a:cs typeface="Red Hat Display Medium"/>
                <a:sym typeface="Red Hat Display Medium"/>
              </a:rPr>
              <a:t>Comprehensive digital audit report</a:t>
            </a:r>
            <a:endParaRPr b="0" i="0" sz="1100" u="none" cap="none" strike="noStrike">
              <a:solidFill>
                <a:schemeClr val="dk1"/>
              </a:solidFill>
              <a:latin typeface="Red Hat Display Medium"/>
              <a:ea typeface="Red Hat Display Medium"/>
              <a:cs typeface="Red Hat Display Medium"/>
              <a:sym typeface="Red Hat Display Medium"/>
            </a:endParaRPr>
          </a:p>
          <a:p>
            <a:pPr indent="-298450" lvl="0" marL="457200" marR="0" rtl="0" algn="l">
              <a:lnSpc>
                <a:spcPct val="115000"/>
              </a:lnSpc>
              <a:spcBef>
                <a:spcPts val="0"/>
              </a:spcBef>
              <a:spcAft>
                <a:spcPts val="0"/>
              </a:spcAft>
              <a:buClr>
                <a:schemeClr val="dk1"/>
              </a:buClr>
              <a:buSzPts val="1100"/>
              <a:buFont typeface="Red Hat Display Medium"/>
              <a:buChar char="●"/>
            </a:pPr>
            <a:r>
              <a:rPr b="0" i="0" lang="cs" sz="1100" u="none" cap="none" strike="noStrike">
                <a:solidFill>
                  <a:schemeClr val="dk1"/>
                </a:solidFill>
                <a:latin typeface="Red Hat Display Medium"/>
                <a:ea typeface="Red Hat Display Medium"/>
                <a:cs typeface="Red Hat Display Medium"/>
                <a:sym typeface="Red Hat Display Medium"/>
              </a:rPr>
              <a:t>Strategic positioning brief</a:t>
            </a:r>
            <a:endParaRPr b="0" i="0" sz="1100" u="none" cap="none" strike="noStrike">
              <a:solidFill>
                <a:schemeClr val="dk1"/>
              </a:solidFill>
              <a:latin typeface="Red Hat Display Medium"/>
              <a:ea typeface="Red Hat Display Medium"/>
              <a:cs typeface="Red Hat Display Medium"/>
              <a:sym typeface="Red Hat Display Medium"/>
            </a:endParaRPr>
          </a:p>
          <a:p>
            <a:pPr indent="-298450" lvl="0" marL="457200" marR="0" rtl="0" algn="l">
              <a:lnSpc>
                <a:spcPct val="115000"/>
              </a:lnSpc>
              <a:spcBef>
                <a:spcPts val="0"/>
              </a:spcBef>
              <a:spcAft>
                <a:spcPts val="0"/>
              </a:spcAft>
              <a:buClr>
                <a:schemeClr val="dk1"/>
              </a:buClr>
              <a:buSzPts val="1100"/>
              <a:buFont typeface="Arial"/>
              <a:buChar char="●"/>
            </a:pPr>
            <a:r>
              <a:rPr b="0" i="0" lang="cs" sz="1100" u="none" cap="none" strike="noStrike">
                <a:solidFill>
                  <a:schemeClr val="dk1"/>
                </a:solidFill>
                <a:latin typeface="Red Hat Display Medium"/>
                <a:ea typeface="Red Hat Display Medium"/>
                <a:cs typeface="Red Hat Display Medium"/>
                <a:sym typeface="Red Hat Display Medium"/>
              </a:rPr>
              <a:t>12-month communication roadmap</a:t>
            </a:r>
            <a:endParaRPr b="0" i="0" sz="1100" u="none" cap="none" strike="noStrike">
              <a:solidFill>
                <a:schemeClr val="dk1"/>
              </a:solidFill>
              <a:latin typeface="Red Hat Display Medium"/>
              <a:ea typeface="Red Hat Display Medium"/>
              <a:cs typeface="Red Hat Display Medium"/>
              <a:sym typeface="Red Hat Display Medium"/>
            </a:endParaRPr>
          </a:p>
          <a:p>
            <a:pPr indent="-298450" lvl="0" marL="457200" marR="0" rtl="0" algn="l">
              <a:lnSpc>
                <a:spcPct val="115000"/>
              </a:lnSpc>
              <a:spcBef>
                <a:spcPts val="0"/>
              </a:spcBef>
              <a:spcAft>
                <a:spcPts val="0"/>
              </a:spcAft>
              <a:buClr>
                <a:schemeClr val="dk1"/>
              </a:buClr>
              <a:buSzPts val="1100"/>
              <a:buFont typeface="Arial"/>
              <a:buChar char="●"/>
            </a:pPr>
            <a:r>
              <a:rPr b="0" i="0" lang="cs" sz="1100" u="none" cap="none" strike="noStrike">
                <a:solidFill>
                  <a:schemeClr val="dk1"/>
                </a:solidFill>
                <a:latin typeface="Red Hat Display Medium"/>
                <a:ea typeface="Red Hat Display Medium"/>
                <a:cs typeface="Red Hat Display Medium"/>
                <a:sym typeface="Red Hat Display Medium"/>
              </a:rPr>
              <a:t>Budget framework for recommended activities</a:t>
            </a:r>
            <a:endParaRPr b="0" i="0" sz="1100" u="none" cap="none" strike="noStrike">
              <a:solidFill>
                <a:schemeClr val="dk1"/>
              </a:solidFill>
              <a:latin typeface="Red Hat Display Medium"/>
              <a:ea typeface="Red Hat Display Medium"/>
              <a:cs typeface="Red Hat Display Medium"/>
              <a:sym typeface="Red Hat Display Medium"/>
            </a:endParaRPr>
          </a:p>
        </p:txBody>
      </p:sp>
      <p:sp>
        <p:nvSpPr>
          <p:cNvPr id="189" name="Google Shape;189;p7"/>
          <p:cNvSpPr/>
          <p:nvPr/>
        </p:nvSpPr>
        <p:spPr>
          <a:xfrm>
            <a:off x="677325" y="2592775"/>
            <a:ext cx="2935800" cy="1782300"/>
          </a:xfrm>
          <a:prstGeom prst="roundRect">
            <a:avLst>
              <a:gd fmla="val 16667" name="adj"/>
            </a:avLst>
          </a:prstGeom>
          <a:solidFill>
            <a:srgbClr val="E9E9E9"/>
          </a:solidFill>
          <a:ln cap="flat" cmpd="sng" w="9525">
            <a:solidFill>
              <a:srgbClr val="595959"/>
            </a:solidFill>
            <a:prstDash val="solid"/>
            <a:round/>
            <a:headEnd len="sm" w="sm" type="none"/>
            <a:tailEnd len="sm" w="sm" type="none"/>
          </a:ln>
        </p:spPr>
        <p:txBody>
          <a:bodyPr anchorCtr="0" anchor="ctr" bIns="91425" lIns="90000"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cs" sz="1200" u="none" cap="none" strike="noStrike">
                <a:solidFill>
                  <a:srgbClr val="000000"/>
                </a:solidFill>
                <a:latin typeface="Red Hat Display"/>
                <a:ea typeface="Red Hat Display"/>
                <a:cs typeface="Red Hat Display"/>
                <a:sym typeface="Red Hat Display"/>
              </a:rPr>
              <a:t>Timeline:</a:t>
            </a:r>
            <a:endParaRPr b="1" i="0" sz="1200" u="none" cap="none" strike="noStrike">
              <a:solidFill>
                <a:srgbClr val="000000"/>
              </a:solidFill>
              <a:latin typeface="Red Hat Display"/>
              <a:ea typeface="Red Hat Display"/>
              <a:cs typeface="Red Hat Display"/>
              <a:sym typeface="Red Hat Display"/>
            </a:endParaRPr>
          </a:p>
          <a:p>
            <a:pPr indent="0" lvl="0" marL="0" marR="0" rtl="0" algn="l">
              <a:lnSpc>
                <a:spcPct val="115000"/>
              </a:lnSpc>
              <a:spcBef>
                <a:spcPts val="700"/>
              </a:spcBef>
              <a:spcAft>
                <a:spcPts val="700"/>
              </a:spcAft>
              <a:buClr>
                <a:srgbClr val="000000"/>
              </a:buClr>
              <a:buSzPts val="1200"/>
              <a:buFont typeface="Arial"/>
              <a:buNone/>
            </a:pPr>
            <a:r>
              <a:rPr b="0" i="0" lang="cs" sz="1200" u="none" cap="none" strike="noStrike">
                <a:solidFill>
                  <a:srgbClr val="000000"/>
                </a:solidFill>
                <a:latin typeface="Red Hat Display Medium"/>
                <a:ea typeface="Red Hat Display Medium"/>
                <a:cs typeface="Red Hat Display Medium"/>
                <a:sym typeface="Red Hat Display Medium"/>
              </a:rPr>
              <a:t>Workshop delivery within 4 weeks of confirmation. Full deliverables package within 2 weeks after the workshop. Everything presented in person or via video call.</a:t>
            </a:r>
            <a:endParaRPr b="0" i="0" sz="1200" u="none" cap="none" strike="noStrike">
              <a:solidFill>
                <a:srgbClr val="000000"/>
              </a:solidFill>
              <a:latin typeface="Red Hat Display Medium"/>
              <a:ea typeface="Red Hat Display Medium"/>
              <a:cs typeface="Red Hat Display Medium"/>
              <a:sym typeface="Red Hat Display Medium"/>
            </a:endParaRPr>
          </a:p>
        </p:txBody>
      </p:sp>
      <p:sp>
        <p:nvSpPr>
          <p:cNvPr id="190" name="Google Shape;190;p7"/>
          <p:cNvSpPr txBox="1"/>
          <p:nvPr/>
        </p:nvSpPr>
        <p:spPr>
          <a:xfrm>
            <a:off x="4079400" y="1227425"/>
            <a:ext cx="4702200" cy="1234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0" i="0" lang="cs" sz="1300" u="none" cap="none" strike="noStrike">
                <a:solidFill>
                  <a:schemeClr val="dk1"/>
                </a:solidFill>
                <a:highlight>
                  <a:srgbClr val="57DC64"/>
                </a:highlight>
                <a:latin typeface="Red Hat Display Medium"/>
                <a:ea typeface="Red Hat Display Medium"/>
                <a:cs typeface="Red Hat Display Medium"/>
                <a:sym typeface="Red Hat Display Medium"/>
              </a:rPr>
              <a:t>The process:</a:t>
            </a:r>
            <a:endParaRPr b="0" i="0" sz="1300" u="none" cap="none" strike="noStrike">
              <a:solidFill>
                <a:schemeClr val="dk1"/>
              </a:solidFill>
              <a:highlight>
                <a:srgbClr val="57DC64"/>
              </a:highlight>
              <a:latin typeface="Red Hat Display Medium"/>
              <a:ea typeface="Red Hat Display Medium"/>
              <a:cs typeface="Red Hat Display Medium"/>
              <a:sym typeface="Red Hat Display Medium"/>
            </a:endParaRPr>
          </a:p>
          <a:p>
            <a:pPr indent="0" lvl="0" marL="0" marR="0" rtl="0" algn="l">
              <a:lnSpc>
                <a:spcPct val="115000"/>
              </a:lnSpc>
              <a:spcBef>
                <a:spcPts val="700"/>
              </a:spcBef>
              <a:spcAft>
                <a:spcPts val="0"/>
              </a:spcAft>
              <a:buClr>
                <a:schemeClr val="dk1"/>
              </a:buClr>
              <a:buSzPts val="1100"/>
              <a:buFont typeface="Arial"/>
              <a:buNone/>
            </a:pPr>
            <a:r>
              <a:rPr b="0" i="0" lang="cs" sz="1100" u="none" cap="none" strike="noStrike">
                <a:solidFill>
                  <a:schemeClr val="dk1"/>
                </a:solidFill>
                <a:latin typeface="Red Hat Display Medium"/>
                <a:ea typeface="Red Hat Display Medium"/>
                <a:cs typeface="Red Hat Display Medium"/>
                <a:sym typeface="Red Hat Display Medium"/>
              </a:rPr>
              <a:t>The workshop takes approximately 4 hours. We’ll work through a structured agenda covering your business model, target audiences, competitive landscape, and brand ambitions. The session is collaborative — your input shapes everything.</a:t>
            </a:r>
            <a:endParaRPr b="0" i="0" sz="11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700"/>
              </a:spcBef>
              <a:spcAft>
                <a:spcPts val="700"/>
              </a:spcAft>
              <a:buClr>
                <a:srgbClr val="000000"/>
              </a:buClr>
              <a:buSzPts val="1300"/>
              <a:buFont typeface="Arial"/>
              <a:buNone/>
            </a:pPr>
            <a:r>
              <a:t/>
            </a:r>
            <a:endParaRPr b="0" i="0" sz="1300" u="none" cap="none" strike="noStrike">
              <a:solidFill>
                <a:schemeClr val="dk1"/>
              </a:solidFill>
              <a:latin typeface="Red Hat Display Medium"/>
              <a:ea typeface="Red Hat Display Medium"/>
              <a:cs typeface="Red Hat Display Medium"/>
              <a:sym typeface="Red Hat Display Medium"/>
            </a:endParaRPr>
          </a:p>
        </p:txBody>
      </p:sp>
      <p:sp>
        <p:nvSpPr>
          <p:cNvPr id="191" name="Google Shape;191;p7"/>
          <p:cNvSpPr txBox="1"/>
          <p:nvPr/>
        </p:nvSpPr>
        <p:spPr>
          <a:xfrm>
            <a:off x="2791882" y="195725"/>
            <a:ext cx="31737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WORKSHOP DELIVERABLES</a:t>
            </a:r>
            <a:endParaRPr b="1" i="0" sz="1000" u="none" cap="none" strike="noStrike">
              <a:solidFill>
                <a:schemeClr val="dk1"/>
              </a:solidFill>
              <a:latin typeface="Red Hat Display"/>
              <a:ea typeface="Red Hat Display"/>
              <a:cs typeface="Red Hat Display"/>
              <a:sym typeface="Red Hat Display"/>
            </a:endParaRPr>
          </a:p>
        </p:txBody>
      </p:sp>
      <p:sp>
        <p:nvSpPr>
          <p:cNvPr id="192" name="Google Shape;192;p7"/>
          <p:cNvSpPr txBox="1"/>
          <p:nvPr/>
        </p:nvSpPr>
        <p:spPr>
          <a:xfrm>
            <a:off x="709942"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CHAPTER 01</a:t>
            </a:r>
            <a:endParaRPr b="1" i="0" sz="1000" u="none" cap="none" strike="noStrike">
              <a:solidFill>
                <a:schemeClr val="dk1"/>
              </a:solidFill>
              <a:latin typeface="Red Hat Display"/>
              <a:ea typeface="Red Hat Display"/>
              <a:cs typeface="Red Hat Display"/>
              <a:sym typeface="Red Hat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 name="Shape 196"/>
        <p:cNvGrpSpPr/>
        <p:nvPr/>
      </p:nvGrpSpPr>
      <p:grpSpPr>
        <a:xfrm>
          <a:off x="0" y="0"/>
          <a:ext cx="0" cy="0"/>
          <a:chOff x="0" y="0"/>
          <a:chExt cx="0" cy="0"/>
        </a:xfrm>
      </p:grpSpPr>
      <p:cxnSp>
        <p:nvCxnSpPr>
          <p:cNvPr id="197" name="Google Shape;197;p8"/>
          <p:cNvCxnSpPr/>
          <p:nvPr/>
        </p:nvCxnSpPr>
        <p:spPr>
          <a:xfrm rot="10800000">
            <a:off x="362400" y="570989"/>
            <a:ext cx="8419200" cy="0"/>
          </a:xfrm>
          <a:prstGeom prst="straightConnector1">
            <a:avLst/>
          </a:prstGeom>
          <a:noFill/>
          <a:ln cap="flat" cmpd="sng" w="9525">
            <a:solidFill>
              <a:schemeClr val="dk1"/>
            </a:solidFill>
            <a:prstDash val="solid"/>
            <a:round/>
            <a:headEnd len="sm" w="sm" type="none"/>
            <a:tailEnd len="sm" w="sm" type="none"/>
          </a:ln>
        </p:spPr>
      </p:cxnSp>
      <p:pic>
        <p:nvPicPr>
          <p:cNvPr id="198" name="Google Shape;198;p8"/>
          <p:cNvPicPr preferRelativeResize="0"/>
          <p:nvPr/>
        </p:nvPicPr>
        <p:blipFill rotWithShape="1">
          <a:blip r:embed="rId4">
            <a:alphaModFix/>
          </a:blip>
          <a:srcRect b="0" l="0" r="0" t="0"/>
          <a:stretch/>
        </p:blipFill>
        <p:spPr>
          <a:xfrm>
            <a:off x="8113444" y="223090"/>
            <a:ext cx="217755" cy="178664"/>
          </a:xfrm>
          <a:prstGeom prst="rect">
            <a:avLst/>
          </a:prstGeom>
          <a:noFill/>
          <a:ln>
            <a:noFill/>
          </a:ln>
        </p:spPr>
      </p:pic>
      <p:sp>
        <p:nvSpPr>
          <p:cNvPr id="199" name="Google Shape;199;p8"/>
          <p:cNvSpPr/>
          <p:nvPr/>
        </p:nvSpPr>
        <p:spPr>
          <a:xfrm>
            <a:off x="415500" y="1370550"/>
            <a:ext cx="8313000" cy="2402400"/>
          </a:xfrm>
          <a:prstGeom prst="roundRect">
            <a:avLst>
              <a:gd fmla="val 16667" name="adj"/>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8"/>
          <p:cNvSpPr txBox="1"/>
          <p:nvPr/>
        </p:nvSpPr>
        <p:spPr>
          <a:xfrm>
            <a:off x="620338" y="1892455"/>
            <a:ext cx="5067300" cy="1354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cs" sz="1700" u="none" cap="none" strike="noStrike">
                <a:solidFill>
                  <a:srgbClr val="000000"/>
                </a:solidFill>
                <a:latin typeface="Young Serif"/>
                <a:ea typeface="Young Serif"/>
                <a:cs typeface="Young Serif"/>
                <a:sym typeface="Young Serif"/>
              </a:rPr>
              <a:t>DISCOVERY WORKSHOP</a:t>
            </a:r>
            <a:endParaRPr b="1" i="0" sz="1700" u="none" cap="none" strike="noStrike">
              <a:solidFill>
                <a:srgbClr val="000000"/>
              </a:solidFill>
              <a:latin typeface="Young Serif"/>
              <a:ea typeface="Young Serif"/>
              <a:cs typeface="Young Serif"/>
              <a:sym typeface="Young Serif"/>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ed Hat Display Medium"/>
              <a:ea typeface="Red Hat Display Medium"/>
              <a:cs typeface="Red Hat Display Medium"/>
              <a:sym typeface="Red Hat Display Medium"/>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ed Hat Display Medium"/>
              <a:ea typeface="Red Hat Display Medium"/>
              <a:cs typeface="Red Hat Display Medium"/>
              <a:sym typeface="Red Hat Display Medium"/>
            </a:endParaRPr>
          </a:p>
          <a:p>
            <a:pPr indent="0" lvl="0" marL="0" marR="0" rtl="0" algn="l">
              <a:lnSpc>
                <a:spcPct val="100000"/>
              </a:lnSpc>
              <a:spcBef>
                <a:spcPts val="0"/>
              </a:spcBef>
              <a:spcAft>
                <a:spcPts val="0"/>
              </a:spcAft>
              <a:buClr>
                <a:srgbClr val="000000"/>
              </a:buClr>
              <a:buSzPts val="1200"/>
              <a:buFont typeface="Arial"/>
              <a:buNone/>
            </a:pPr>
            <a:r>
              <a:rPr b="0" i="0" lang="cs" sz="1200" u="none" cap="none" strike="noStrike">
                <a:solidFill>
                  <a:srgbClr val="000000"/>
                </a:solidFill>
                <a:latin typeface="Red Hat Display Medium"/>
                <a:ea typeface="Red Hat Display Medium"/>
                <a:cs typeface="Red Hat Display Medium"/>
                <a:sym typeface="Red Hat Display Medium"/>
              </a:rPr>
              <a:t>Half-day workshop • Digital audit • Strategic brief • Communication roadmap • Budget framework</a:t>
            </a:r>
            <a:endParaRPr b="0" i="0" sz="1200" u="none" cap="none" strike="noStrike">
              <a:solidFill>
                <a:srgbClr val="000000"/>
              </a:solidFill>
              <a:latin typeface="Red Hat Display Medium"/>
              <a:ea typeface="Red Hat Display Medium"/>
              <a:cs typeface="Red Hat Display Medium"/>
              <a:sym typeface="Red Hat Display Medium"/>
            </a:endParaRPr>
          </a:p>
          <a:p>
            <a:pPr indent="0" lvl="0" marL="0" marR="0" rtl="0" algn="l">
              <a:lnSpc>
                <a:spcPct val="100000"/>
              </a:lnSpc>
              <a:spcBef>
                <a:spcPts val="0"/>
              </a:spcBef>
              <a:spcAft>
                <a:spcPts val="0"/>
              </a:spcAft>
              <a:buClr>
                <a:srgbClr val="000000"/>
              </a:buClr>
              <a:buSzPts val="1100"/>
              <a:buFont typeface="Arial"/>
              <a:buNone/>
            </a:pPr>
            <a:r>
              <a:rPr b="0" i="0" lang="cs" sz="1100" u="none" cap="none" strike="noStrike">
                <a:solidFill>
                  <a:srgbClr val="000000"/>
                </a:solidFill>
                <a:latin typeface="Red Hat Display Medium"/>
                <a:ea typeface="Red Hat Display Medium"/>
                <a:cs typeface="Red Hat Display Medium"/>
                <a:sym typeface="Red Hat Display Medium"/>
              </a:rPr>
              <a:t>Workshop within 4 weeks • Deliverables within 2 weeks</a:t>
            </a:r>
            <a:endParaRPr b="0" i="0" sz="1100" u="none" cap="none" strike="noStrike">
              <a:solidFill>
                <a:srgbClr val="000000"/>
              </a:solidFill>
              <a:latin typeface="Red Hat Display Medium"/>
              <a:ea typeface="Red Hat Display Medium"/>
              <a:cs typeface="Red Hat Display Medium"/>
              <a:sym typeface="Red Hat Display Medium"/>
            </a:endParaRPr>
          </a:p>
        </p:txBody>
      </p:sp>
      <p:sp>
        <p:nvSpPr>
          <p:cNvPr id="201" name="Google Shape;201;p8"/>
          <p:cNvSpPr txBox="1"/>
          <p:nvPr/>
        </p:nvSpPr>
        <p:spPr>
          <a:xfrm>
            <a:off x="6134850" y="2692850"/>
            <a:ext cx="2196300" cy="554100"/>
          </a:xfrm>
          <a:prstGeom prst="rect">
            <a:avLst/>
          </a:prstGeom>
          <a:noFill/>
          <a:ln>
            <a:noFill/>
          </a:ln>
        </p:spPr>
        <p:txBody>
          <a:bodyPr anchorCtr="0" anchor="t" bIns="91425" lIns="91425" spcFirstLastPara="1" rIns="91425" wrap="square" tIns="91425">
            <a:spAutoFit/>
          </a:bodyPr>
          <a:lstStyle/>
          <a:p>
            <a:pPr indent="0" lvl="0" marL="0" marR="0" rtl="0" algn="r">
              <a:lnSpc>
                <a:spcPct val="100000"/>
              </a:lnSpc>
              <a:spcBef>
                <a:spcPts val="0"/>
              </a:spcBef>
              <a:spcAft>
                <a:spcPts val="0"/>
              </a:spcAft>
              <a:buClr>
                <a:srgbClr val="000000"/>
              </a:buClr>
              <a:buSzPts val="2400"/>
              <a:buFont typeface="Arial"/>
              <a:buNone/>
            </a:pPr>
            <a:r>
              <a:rPr b="0" i="0" lang="cs" sz="2400" u="none" cap="none" strike="noStrike">
                <a:solidFill>
                  <a:srgbClr val="000000"/>
                </a:solidFill>
                <a:highlight>
                  <a:srgbClr val="33B6FF"/>
                </a:highlight>
                <a:latin typeface="Red Hat Display Black"/>
                <a:ea typeface="Red Hat Display Black"/>
                <a:cs typeface="Red Hat Display Black"/>
                <a:sym typeface="Red Hat Display Black"/>
              </a:rPr>
              <a:t>55 000 CZK</a:t>
            </a:r>
            <a:endParaRPr b="0" i="0" sz="2400" u="none" cap="none" strike="noStrike">
              <a:solidFill>
                <a:srgbClr val="000000"/>
              </a:solidFill>
              <a:highlight>
                <a:srgbClr val="33B6FF"/>
              </a:highlight>
              <a:latin typeface="Red Hat Display Black"/>
              <a:ea typeface="Red Hat Display Black"/>
              <a:cs typeface="Red Hat Display Black"/>
              <a:sym typeface="Red Hat Display Black"/>
            </a:endParaRPr>
          </a:p>
        </p:txBody>
      </p:sp>
      <p:sp>
        <p:nvSpPr>
          <p:cNvPr id="202" name="Google Shape;202;p8"/>
          <p:cNvSpPr txBox="1"/>
          <p:nvPr/>
        </p:nvSpPr>
        <p:spPr>
          <a:xfrm>
            <a:off x="2995731" y="195850"/>
            <a:ext cx="31524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INVESTMENT</a:t>
            </a:r>
            <a:endParaRPr b="1" i="0" sz="1000" u="none" cap="none" strike="noStrike">
              <a:solidFill>
                <a:schemeClr val="dk1"/>
              </a:solidFill>
              <a:latin typeface="Red Hat Display"/>
              <a:ea typeface="Red Hat Display"/>
              <a:cs typeface="Red Hat Display"/>
              <a:sym typeface="Red Hat Display"/>
            </a:endParaRPr>
          </a:p>
        </p:txBody>
      </p:sp>
      <p:sp>
        <p:nvSpPr>
          <p:cNvPr id="203" name="Google Shape;203;p8"/>
          <p:cNvSpPr txBox="1"/>
          <p:nvPr/>
        </p:nvSpPr>
        <p:spPr>
          <a:xfrm>
            <a:off x="709942"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CHAPTER 01</a:t>
            </a:r>
            <a:endParaRPr b="1" i="0" sz="1000" u="none" cap="none" strike="noStrike">
              <a:solidFill>
                <a:schemeClr val="dk1"/>
              </a:solidFill>
              <a:latin typeface="Red Hat Display"/>
              <a:ea typeface="Red Hat Display"/>
              <a:cs typeface="Red Hat Display"/>
              <a:sym typeface="Red Hat Displ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07" name="Shape 207"/>
        <p:cNvGrpSpPr/>
        <p:nvPr/>
      </p:nvGrpSpPr>
      <p:grpSpPr>
        <a:xfrm>
          <a:off x="0" y="0"/>
          <a:ext cx="0" cy="0"/>
          <a:chOff x="0" y="0"/>
          <a:chExt cx="0" cy="0"/>
        </a:xfrm>
      </p:grpSpPr>
      <p:cxnSp>
        <p:nvCxnSpPr>
          <p:cNvPr id="208" name="Google Shape;208;p9"/>
          <p:cNvCxnSpPr/>
          <p:nvPr/>
        </p:nvCxnSpPr>
        <p:spPr>
          <a:xfrm rot="10800000">
            <a:off x="362400" y="570989"/>
            <a:ext cx="8419200" cy="0"/>
          </a:xfrm>
          <a:prstGeom prst="straightConnector1">
            <a:avLst/>
          </a:prstGeom>
          <a:noFill/>
          <a:ln cap="flat" cmpd="sng" w="9525">
            <a:solidFill>
              <a:schemeClr val="dk1"/>
            </a:solidFill>
            <a:prstDash val="solid"/>
            <a:round/>
            <a:headEnd len="sm" w="sm" type="none"/>
            <a:tailEnd len="sm" w="sm" type="none"/>
          </a:ln>
        </p:spPr>
      </p:cxnSp>
      <p:sp>
        <p:nvSpPr>
          <p:cNvPr id="209" name="Google Shape;209;p9"/>
          <p:cNvSpPr txBox="1"/>
          <p:nvPr/>
        </p:nvSpPr>
        <p:spPr>
          <a:xfrm>
            <a:off x="3693367"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cs" sz="1000" u="none" cap="none" strike="noStrike">
                <a:solidFill>
                  <a:schemeClr val="dk1"/>
                </a:solidFill>
                <a:latin typeface="Red Hat Display"/>
                <a:ea typeface="Red Hat Display"/>
                <a:cs typeface="Red Hat Display"/>
                <a:sym typeface="Red Hat Display"/>
              </a:rPr>
              <a:t>WHAT IS NEXT?</a:t>
            </a:r>
            <a:endParaRPr b="1" i="0" sz="1000" u="none" cap="none" strike="noStrike">
              <a:solidFill>
                <a:schemeClr val="dk1"/>
              </a:solidFill>
              <a:latin typeface="Red Hat Display"/>
              <a:ea typeface="Red Hat Display"/>
              <a:cs typeface="Red Hat Display"/>
              <a:sym typeface="Red Hat Display"/>
            </a:endParaRPr>
          </a:p>
        </p:txBody>
      </p:sp>
      <p:pic>
        <p:nvPicPr>
          <p:cNvPr id="210" name="Google Shape;210;p9"/>
          <p:cNvPicPr preferRelativeResize="0"/>
          <p:nvPr/>
        </p:nvPicPr>
        <p:blipFill rotWithShape="1">
          <a:blip r:embed="rId4">
            <a:alphaModFix/>
          </a:blip>
          <a:srcRect b="0" l="0" r="0" t="0"/>
          <a:stretch/>
        </p:blipFill>
        <p:spPr>
          <a:xfrm>
            <a:off x="8113444" y="223090"/>
            <a:ext cx="217755" cy="178664"/>
          </a:xfrm>
          <a:prstGeom prst="rect">
            <a:avLst/>
          </a:prstGeom>
          <a:noFill/>
          <a:ln>
            <a:noFill/>
          </a:ln>
        </p:spPr>
      </p:pic>
      <p:sp>
        <p:nvSpPr>
          <p:cNvPr id="211" name="Google Shape;211;p9"/>
          <p:cNvSpPr txBox="1"/>
          <p:nvPr/>
        </p:nvSpPr>
        <p:spPr>
          <a:xfrm>
            <a:off x="677175" y="1227425"/>
            <a:ext cx="2935800" cy="2444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400"/>
              </a:spcBef>
              <a:spcAft>
                <a:spcPts val="400"/>
              </a:spcAft>
              <a:buClr>
                <a:srgbClr val="000000"/>
              </a:buClr>
              <a:buSzPts val="2000"/>
              <a:buFont typeface="Arial"/>
              <a:buNone/>
            </a:pPr>
            <a:r>
              <a:rPr b="1" i="0" lang="cs" sz="2000" u="none" cap="none" strike="noStrike">
                <a:solidFill>
                  <a:schemeClr val="dk1"/>
                </a:solidFill>
                <a:latin typeface="Young Serif"/>
                <a:ea typeface="Young Serif"/>
                <a:cs typeface="Young Serif"/>
                <a:sym typeface="Young Serif"/>
              </a:rPr>
              <a:t>What comes after the workshop.</a:t>
            </a:r>
            <a:endParaRPr b="0" i="0" sz="2000" u="none" cap="none" strike="noStrike">
              <a:solidFill>
                <a:schemeClr val="dk1"/>
              </a:solidFill>
              <a:latin typeface="Young Serif"/>
              <a:ea typeface="Young Serif"/>
              <a:cs typeface="Young Serif"/>
              <a:sym typeface="Young Serif"/>
            </a:endParaRPr>
          </a:p>
        </p:txBody>
      </p:sp>
      <p:sp>
        <p:nvSpPr>
          <p:cNvPr id="212" name="Google Shape;212;p9"/>
          <p:cNvSpPr txBox="1"/>
          <p:nvPr/>
        </p:nvSpPr>
        <p:spPr>
          <a:xfrm>
            <a:off x="4079400" y="1227425"/>
            <a:ext cx="3908700" cy="3315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3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Based on the Discovery Workshop outputs, we may recommend a </a:t>
            </a:r>
            <a:r>
              <a:rPr b="0" i="0" lang="cs" sz="1300" u="none" cap="none" strike="noStrike">
                <a:solidFill>
                  <a:schemeClr val="dk1"/>
                </a:solidFill>
                <a:highlight>
                  <a:srgbClr val="57DC64"/>
                </a:highlight>
                <a:latin typeface="Red Hat Display Medium"/>
                <a:ea typeface="Red Hat Display Medium"/>
                <a:cs typeface="Red Hat Display Medium"/>
                <a:sym typeface="Red Hat Display Medium"/>
              </a:rPr>
              <a:t>Brand Strategy</a:t>
            </a:r>
            <a:r>
              <a:rPr b="0" i="0" lang="cs" sz="1300" u="none" cap="none" strike="noStrike">
                <a:solidFill>
                  <a:schemeClr val="dk1"/>
                </a:solidFill>
                <a:latin typeface="Red Hat Display Medium"/>
                <a:ea typeface="Red Hat Display Medium"/>
                <a:cs typeface="Red Hat Display Medium"/>
                <a:sym typeface="Red Hat Display Medium"/>
              </a:rPr>
              <a:t> — defining who you are, how you communicate, and what makes you different.</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700"/>
              </a:spcBef>
              <a:spcAft>
                <a:spcPts val="0"/>
              </a:spcAft>
              <a:buClr>
                <a:srgbClr val="000000"/>
              </a:buClr>
              <a:buSzPts val="13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From there, a </a:t>
            </a:r>
            <a:r>
              <a:rPr b="0" i="0" lang="cs" sz="1300" u="none" cap="none" strike="noStrike">
                <a:solidFill>
                  <a:schemeClr val="dk1"/>
                </a:solidFill>
                <a:highlight>
                  <a:srgbClr val="57DC64"/>
                </a:highlight>
                <a:latin typeface="Red Hat Display Medium"/>
                <a:ea typeface="Red Hat Display Medium"/>
                <a:cs typeface="Red Hat Display Medium"/>
                <a:sym typeface="Red Hat Display Medium"/>
              </a:rPr>
              <a:t>Communication Strategy</a:t>
            </a:r>
            <a:r>
              <a:rPr b="0" i="0" lang="cs" sz="1300" u="none" cap="none" strike="noStrike">
                <a:solidFill>
                  <a:schemeClr val="dk1"/>
                </a:solidFill>
                <a:latin typeface="Red Hat Display Medium"/>
                <a:ea typeface="Red Hat Display Medium"/>
                <a:cs typeface="Red Hat Display Medium"/>
                <a:sym typeface="Red Hat Display Medium"/>
              </a:rPr>
              <a:t> — choosing the right channels, formats, and cadence for your audience.</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700"/>
              </a:spcBef>
              <a:spcAft>
                <a:spcPts val="0"/>
              </a:spcAft>
              <a:buClr>
                <a:srgbClr val="000000"/>
              </a:buClr>
              <a:buSzPts val="13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And finally, </a:t>
            </a:r>
            <a:r>
              <a:rPr b="0" i="0" lang="cs" sz="1300" u="none" cap="none" strike="noStrike">
                <a:solidFill>
                  <a:schemeClr val="dk1"/>
                </a:solidFill>
                <a:highlight>
                  <a:srgbClr val="57DC64"/>
                </a:highlight>
                <a:latin typeface="Red Hat Display Medium"/>
                <a:ea typeface="Red Hat Display Medium"/>
                <a:cs typeface="Red Hat Display Medium"/>
                <a:sym typeface="Red Hat Display Medium"/>
              </a:rPr>
              <a:t>Ongoing Collaboration</a:t>
            </a:r>
            <a:r>
              <a:rPr b="0" i="0" lang="cs" sz="1300" u="none" cap="none" strike="noStrike">
                <a:solidFill>
                  <a:schemeClr val="dk1"/>
                </a:solidFill>
                <a:latin typeface="Red Hat Display Medium"/>
                <a:ea typeface="Red Hat Display Medium"/>
                <a:cs typeface="Red Hat Display Medium"/>
                <a:sym typeface="Red Hat Display Medium"/>
              </a:rPr>
              <a:t> — content creation, community management, and campaign execution.</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700"/>
              </a:spcBef>
              <a:spcAft>
                <a:spcPts val="700"/>
              </a:spcAft>
              <a:buClr>
                <a:srgbClr val="000000"/>
              </a:buClr>
              <a:buSzPts val="13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No prices here on purpose. We'll make this decision together, based on what the workshop reveals.</a:t>
            </a:r>
            <a:endParaRPr b="0" i="0" sz="1300" u="none" cap="none" strike="noStrike">
              <a:solidFill>
                <a:schemeClr val="dk1"/>
              </a:solidFill>
              <a:latin typeface="Red Hat Display Medium"/>
              <a:ea typeface="Red Hat Display Medium"/>
              <a:cs typeface="Red Hat Display Medium"/>
              <a:sym typeface="Red Hat Display Medium"/>
            </a:endParaRPr>
          </a:p>
        </p:txBody>
      </p:sp>
      <p:sp>
        <p:nvSpPr>
          <p:cNvPr id="213" name="Google Shape;213;p9"/>
          <p:cNvSpPr txBox="1"/>
          <p:nvPr/>
        </p:nvSpPr>
        <p:spPr>
          <a:xfrm>
            <a:off x="709942"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CHAPTER 01</a:t>
            </a:r>
            <a:endParaRPr b="1" i="0" sz="1000" u="none" cap="none" strike="noStrike">
              <a:solidFill>
                <a:schemeClr val="dk1"/>
              </a:solidFill>
              <a:latin typeface="Red Hat Display"/>
              <a:ea typeface="Red Hat Display"/>
              <a:cs typeface="Red Hat Display"/>
              <a:sym typeface="Red Hat Displ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7" name="Shape 217"/>
        <p:cNvGrpSpPr/>
        <p:nvPr/>
      </p:nvGrpSpPr>
      <p:grpSpPr>
        <a:xfrm>
          <a:off x="0" y="0"/>
          <a:ext cx="0" cy="0"/>
          <a:chOff x="0" y="0"/>
          <a:chExt cx="0" cy="0"/>
        </a:xfrm>
      </p:grpSpPr>
      <p:cxnSp>
        <p:nvCxnSpPr>
          <p:cNvPr id="218" name="Google Shape;218;p10"/>
          <p:cNvCxnSpPr/>
          <p:nvPr/>
        </p:nvCxnSpPr>
        <p:spPr>
          <a:xfrm rot="10800000">
            <a:off x="362400" y="570989"/>
            <a:ext cx="8419200" cy="0"/>
          </a:xfrm>
          <a:prstGeom prst="straightConnector1">
            <a:avLst/>
          </a:prstGeom>
          <a:noFill/>
          <a:ln cap="flat" cmpd="sng" w="9525">
            <a:solidFill>
              <a:schemeClr val="dk1"/>
            </a:solidFill>
            <a:prstDash val="solid"/>
            <a:round/>
            <a:headEnd len="sm" w="sm" type="none"/>
            <a:tailEnd len="sm" w="sm" type="none"/>
          </a:ln>
        </p:spPr>
      </p:cxnSp>
      <p:sp>
        <p:nvSpPr>
          <p:cNvPr id="219" name="Google Shape;219;p10"/>
          <p:cNvSpPr txBox="1"/>
          <p:nvPr/>
        </p:nvSpPr>
        <p:spPr>
          <a:xfrm>
            <a:off x="3693367"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cs" sz="1000" u="none" cap="none" strike="noStrike">
                <a:solidFill>
                  <a:schemeClr val="dk1"/>
                </a:solidFill>
                <a:latin typeface="Red Hat Display"/>
                <a:ea typeface="Red Hat Display"/>
                <a:cs typeface="Red Hat Display"/>
                <a:sym typeface="Red Hat Display"/>
              </a:rPr>
              <a:t>STORY TLRS</a:t>
            </a:r>
            <a:endParaRPr b="1" i="0" sz="1000" u="none" cap="none" strike="noStrike">
              <a:solidFill>
                <a:schemeClr val="dk1"/>
              </a:solidFill>
              <a:latin typeface="Red Hat Display"/>
              <a:ea typeface="Red Hat Display"/>
              <a:cs typeface="Red Hat Display"/>
              <a:sym typeface="Red Hat Display"/>
            </a:endParaRPr>
          </a:p>
        </p:txBody>
      </p:sp>
      <p:pic>
        <p:nvPicPr>
          <p:cNvPr id="220" name="Google Shape;220;p10"/>
          <p:cNvPicPr preferRelativeResize="0"/>
          <p:nvPr/>
        </p:nvPicPr>
        <p:blipFill rotWithShape="1">
          <a:blip r:embed="rId4">
            <a:alphaModFix/>
          </a:blip>
          <a:srcRect b="0" l="0" r="0" t="0"/>
          <a:stretch/>
        </p:blipFill>
        <p:spPr>
          <a:xfrm>
            <a:off x="8113444" y="223090"/>
            <a:ext cx="217755" cy="178664"/>
          </a:xfrm>
          <a:prstGeom prst="rect">
            <a:avLst/>
          </a:prstGeom>
          <a:noFill/>
          <a:ln>
            <a:noFill/>
          </a:ln>
        </p:spPr>
      </p:pic>
      <p:sp>
        <p:nvSpPr>
          <p:cNvPr id="221" name="Google Shape;221;p10"/>
          <p:cNvSpPr txBox="1"/>
          <p:nvPr/>
        </p:nvSpPr>
        <p:spPr>
          <a:xfrm>
            <a:off x="677175" y="1227425"/>
            <a:ext cx="3402300" cy="244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cs" sz="3800" u="none" cap="none" strike="noStrike">
                <a:solidFill>
                  <a:schemeClr val="dk1"/>
                </a:solidFill>
                <a:latin typeface="Red Hat Display Black"/>
                <a:ea typeface="Red Hat Display Black"/>
                <a:cs typeface="Red Hat Display Black"/>
                <a:sym typeface="Red Hat Display Black"/>
              </a:rPr>
              <a:t>Why</a:t>
            </a:r>
            <a:endParaRPr b="1" i="0" sz="3800" u="none" cap="none" strike="noStrike">
              <a:solidFill>
                <a:schemeClr val="dk1"/>
              </a:solidFill>
              <a:latin typeface="Young Serif"/>
              <a:ea typeface="Young Serif"/>
              <a:cs typeface="Young Serif"/>
              <a:sym typeface="Young Serif"/>
            </a:endParaRPr>
          </a:p>
          <a:p>
            <a:pPr indent="0" lvl="0" marL="0" marR="0" rtl="0" algn="l">
              <a:lnSpc>
                <a:spcPct val="100000"/>
              </a:lnSpc>
              <a:spcBef>
                <a:spcPts val="0"/>
              </a:spcBef>
              <a:spcAft>
                <a:spcPts val="0"/>
              </a:spcAft>
              <a:buClr>
                <a:srgbClr val="000000"/>
              </a:buClr>
              <a:buSzPts val="3800"/>
              <a:buFont typeface="Arial"/>
              <a:buNone/>
            </a:pPr>
            <a:r>
              <a:rPr b="1" i="0" lang="cs" sz="3800" u="none" cap="none" strike="noStrike">
                <a:solidFill>
                  <a:schemeClr val="dk1"/>
                </a:solidFill>
                <a:latin typeface="Young Serif"/>
                <a:ea typeface="Young Serif"/>
                <a:cs typeface="Young Serif"/>
                <a:sym typeface="Young Serif"/>
              </a:rPr>
              <a:t>Story TLRS.</a:t>
            </a:r>
            <a:endParaRPr b="1" i="0" sz="3800" u="none" cap="none" strike="noStrike">
              <a:solidFill>
                <a:schemeClr val="dk1"/>
              </a:solidFill>
              <a:latin typeface="Young Serif"/>
              <a:ea typeface="Young Serif"/>
              <a:cs typeface="Young Serif"/>
              <a:sym typeface="Young Serif"/>
            </a:endParaRPr>
          </a:p>
        </p:txBody>
      </p:sp>
      <p:sp>
        <p:nvSpPr>
          <p:cNvPr id="222" name="Google Shape;222;p10"/>
          <p:cNvSpPr txBox="1"/>
          <p:nvPr/>
        </p:nvSpPr>
        <p:spPr>
          <a:xfrm>
            <a:off x="4079400" y="1227425"/>
            <a:ext cx="3908700" cy="3315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We’re a storytelling agency. We help brands find and tell their stories across digital channels — from strategy to execution, all under one roof.</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1200"/>
              </a:spcBef>
              <a:spcAft>
                <a:spcPts val="0"/>
              </a:spcAft>
              <a:buClr>
                <a:schemeClr val="dk1"/>
              </a:buClr>
              <a:buSzPts val="11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With our design studio </a:t>
            </a:r>
            <a:r>
              <a:rPr b="0" i="0" lang="cs" sz="1300" u="none" cap="none" strike="noStrike">
                <a:solidFill>
                  <a:schemeClr val="dk1"/>
                </a:solidFill>
                <a:highlight>
                  <a:srgbClr val="33B6FF"/>
                </a:highlight>
                <a:latin typeface="Red Hat Display Medium"/>
                <a:ea typeface="Red Hat Display Medium"/>
                <a:cs typeface="Red Hat Display Medium"/>
                <a:sym typeface="Red Hat Display Medium"/>
              </a:rPr>
              <a:t>Semibold</a:t>
            </a:r>
            <a:r>
              <a:rPr b="0" i="0" lang="cs" sz="1300" u="none" cap="none" strike="noStrike">
                <a:solidFill>
                  <a:schemeClr val="dk1"/>
                </a:solidFill>
                <a:latin typeface="Red Hat Display Medium"/>
                <a:ea typeface="Red Hat Display Medium"/>
                <a:cs typeface="Red Hat Display Medium"/>
                <a:sym typeface="Red Hat Display Medium"/>
              </a:rPr>
              <a:t>, we cover brand identity, web, and visual systems as well.</a:t>
            </a:r>
            <a:endParaRPr b="0" i="0" sz="1300" u="none" cap="none" strike="noStrike">
              <a:solidFill>
                <a:schemeClr val="dk1"/>
              </a:solidFill>
              <a:latin typeface="Red Hat Display Medium"/>
              <a:ea typeface="Red Hat Display Medium"/>
              <a:cs typeface="Red Hat Display Medium"/>
              <a:sym typeface="Red Hat Display Medium"/>
            </a:endParaRPr>
          </a:p>
          <a:p>
            <a:pPr indent="0" lvl="0" marL="0" marR="0" rtl="0" algn="l">
              <a:lnSpc>
                <a:spcPct val="115000"/>
              </a:lnSpc>
              <a:spcBef>
                <a:spcPts val="1200"/>
              </a:spcBef>
              <a:spcAft>
                <a:spcPts val="700"/>
              </a:spcAft>
              <a:buClr>
                <a:srgbClr val="000000"/>
              </a:buClr>
              <a:buSzPts val="1300"/>
              <a:buFont typeface="Arial"/>
              <a:buNone/>
            </a:pPr>
            <a:r>
              <a:rPr b="0" i="0" lang="cs" sz="1300" u="none" cap="none" strike="noStrike">
                <a:solidFill>
                  <a:schemeClr val="dk1"/>
                </a:solidFill>
                <a:latin typeface="Red Hat Display Medium"/>
                <a:ea typeface="Red Hat Display Medium"/>
                <a:cs typeface="Red Hat Display Medium"/>
                <a:sym typeface="Red Hat Display Medium"/>
              </a:rPr>
              <a:t>50+ active clients. 10 years in the market. A team of strategists, creatives, community managers, and performance specialists.</a:t>
            </a:r>
            <a:endParaRPr b="0" i="0" sz="1300" u="none" cap="none" strike="noStrike">
              <a:solidFill>
                <a:schemeClr val="dk1"/>
              </a:solidFill>
              <a:latin typeface="Red Hat Display Medium"/>
              <a:ea typeface="Red Hat Display Medium"/>
              <a:cs typeface="Red Hat Display Medium"/>
              <a:sym typeface="Red Hat Display Medium"/>
            </a:endParaRPr>
          </a:p>
        </p:txBody>
      </p:sp>
      <p:sp>
        <p:nvSpPr>
          <p:cNvPr id="223" name="Google Shape;223;p10"/>
          <p:cNvSpPr txBox="1"/>
          <p:nvPr/>
        </p:nvSpPr>
        <p:spPr>
          <a:xfrm>
            <a:off x="709942" y="195862"/>
            <a:ext cx="1757100" cy="233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cs" sz="1000" u="none" cap="none" strike="noStrike">
                <a:solidFill>
                  <a:schemeClr val="dk1"/>
                </a:solidFill>
                <a:latin typeface="Red Hat Display"/>
                <a:ea typeface="Red Hat Display"/>
                <a:cs typeface="Red Hat Display"/>
                <a:sym typeface="Red Hat Display"/>
              </a:rPr>
              <a:t>CHAPTER 01</a:t>
            </a:r>
            <a:endParaRPr b="1" i="0" sz="1000" u="none" cap="none" strike="noStrike">
              <a:solidFill>
                <a:schemeClr val="dk1"/>
              </a:solidFill>
              <a:latin typeface="Red Hat Display"/>
              <a:ea typeface="Red Hat Display"/>
              <a:cs typeface="Red Hat Display"/>
              <a:sym typeface="Red Hat Displ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